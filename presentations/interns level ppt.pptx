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Boston Angel Bold" panose="020B0604020202020204" charset="0"/>
      <p:regular r:id="rId17"/>
    </p:embeddedFont>
    <p:embeddedFont>
      <p:font typeface="IBM Plex Sans" panose="020B0503050203000203" pitchFamily="34" charset="0"/>
      <p:regular r:id="rId18"/>
    </p:embeddedFont>
    <p:embeddedFont>
      <p:font typeface="IBM Plex Sans Bold" panose="020B0604020202020204" charset="0"/>
      <p:regular r:id="rId19"/>
    </p:embeddedFont>
    <p:embeddedFont>
      <p:font typeface="IBM Plex Sans Bold Italics" panose="020B0604020202020204" charset="0"/>
      <p:regular r:id="rId20"/>
    </p:embeddedFont>
    <p:embeddedFont>
      <p:font typeface="Open Sans Bold" panose="020B0604020202020204" charset="0"/>
      <p:regular r:id="rId21"/>
    </p:embeddedFont>
    <p:embeddedFont>
      <p:font typeface="PT Serif Bold" panose="020B0604020202020204" charset="0"/>
      <p:regular r:id="rId22"/>
    </p:embeddedFont>
    <p:embeddedFont>
      <p:font typeface="Rubik Bold" panose="020B0604020202020204" charset="-79"/>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Using the proxy, we tested 50,000 parameter sets and kept ten that fit the history well and differ from each other. Our best set ties with the organisers’ best case. But as a group, our ten sets score about 19 percent lower, which means better, than the organisers’ top ten. (about 20 seconds)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choose our forecast methods, we ran a cold test: we hid the data from 2005 to 2008, forecast those years from the earlier data, and checked the error. Based on the results, we chose an Arps decline curve for oil and gas. For water, we chose the water-oil ratio against cumulative oil, because it had the lowest error, about 15 percent. On top of that, every forecast starts from the real 2008 production, and total liquid is capped at its recent level. (about 30 seconds)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most likely forecast, P50, is about 59.7 million barrels of cumulative oil by 2028. It turns out that our ten cases differ by only 0.6 percent. That is not real certainty: since they all fit the same history, our method cannot see their differences. (about 20 seconds)</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main limitation: at the end of the history, the model gives 12 to 15 percent too much oil and about 10 percent too little water. This bias comes from the simulated cases, and changing the parameters cannot fix it. We checked this: from the same 50,000 parameter sets, we picked the ones that fit only 2005 to 2008 best. They did fit those years better, but their match over the whole 1998 to 2008 history became seven to ten times worse. So we kept our ten cases. (about 30 seconds)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real uncertainty is in our assumptions, not the parameters. Calibrating for the bias moves oil by about 5 percent, the fitting years by about 7, and the water cap moves water by about 16 percent. So we report scenarios, not just P10 to P90. (about 22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future improvements, we recommend three steps. First, verify: our ten cases are ready for a full simulator run to 2028, to get a true uncertainty range. Second, fix the bias at its source by exploring parameters beyond the four given. Third, decide: turn P10, P50 and P90 into revenue and NPV, to answer the business question: will this field make money? Now, we will move to the dashboard. (about 25 seconds)</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MY"/>
          </a:p>
        </p:txBody>
      </p:sp>
      <p:sp>
        <p:nvSpPr>
          <p:cNvPr id="3" name="Freeform 3"/>
          <p:cNvSpPr/>
          <p:nvPr/>
        </p:nvSpPr>
        <p:spPr>
          <a:xfrm>
            <a:off x="0" y="0"/>
            <a:ext cx="657225" cy="10287000"/>
          </a:xfrm>
          <a:custGeom>
            <a:avLst/>
            <a:gdLst/>
            <a:ahLst/>
            <a:cxnLst/>
            <a:rect l="l" t="t" r="r" b="b"/>
            <a:pathLst>
              <a:path w="657225" h="10287000">
                <a:moveTo>
                  <a:pt x="0" y="0"/>
                </a:moveTo>
                <a:lnTo>
                  <a:pt x="657225" y="0"/>
                </a:lnTo>
                <a:lnTo>
                  <a:pt x="657225" y="10287000"/>
                </a:lnTo>
                <a:lnTo>
                  <a:pt x="0" y="10287000"/>
                </a:lnTo>
                <a:lnTo>
                  <a:pt x="0" y="0"/>
                </a:lnTo>
                <a:close/>
              </a:path>
            </a:pathLst>
          </a:custGeom>
          <a:blipFill>
            <a:blip r:embed="rId3"/>
            <a:stretch>
              <a:fillRect/>
            </a:stretch>
          </a:blipFill>
        </p:spPr>
        <p:txBody>
          <a:bodyPr/>
          <a:lstStyle/>
          <a:p>
            <a:endParaRPr lang="en-MY"/>
          </a:p>
        </p:txBody>
      </p:sp>
      <p:sp>
        <p:nvSpPr>
          <p:cNvPr id="4" name="TextBox 4"/>
          <p:cNvSpPr txBox="1"/>
          <p:nvPr/>
        </p:nvSpPr>
        <p:spPr>
          <a:xfrm>
            <a:off x="1372487" y="2233110"/>
            <a:ext cx="10091124" cy="297842"/>
          </a:xfrm>
          <a:prstGeom prst="rect">
            <a:avLst/>
          </a:prstGeom>
        </p:spPr>
        <p:txBody>
          <a:bodyPr lIns="0" tIns="0" rIns="0" bIns="0" rtlCol="0" anchor="t">
            <a:spAutoFit/>
          </a:bodyPr>
          <a:lstStyle/>
          <a:p>
            <a:pPr algn="l">
              <a:lnSpc>
                <a:spcPts val="2351"/>
              </a:lnSpc>
            </a:pPr>
            <a:r>
              <a:rPr lang="en-US" sz="2351" b="1" spc="704">
                <a:solidFill>
                  <a:srgbClr val="C28B33"/>
                </a:solidFill>
                <a:latin typeface="Open Sans Bold"/>
                <a:ea typeface="Open Sans Bold"/>
                <a:cs typeface="Open Sans Bold"/>
                <a:sym typeface="Open Sans Bold"/>
              </a:rPr>
              <a:t>EXXONMOBIL DATAWORKS CHALLENGE 2026</a:t>
            </a:r>
          </a:p>
        </p:txBody>
      </p:sp>
      <p:sp>
        <p:nvSpPr>
          <p:cNvPr id="5" name="TextBox 5"/>
          <p:cNvSpPr txBox="1"/>
          <p:nvPr/>
        </p:nvSpPr>
        <p:spPr>
          <a:xfrm>
            <a:off x="1372487" y="3002121"/>
            <a:ext cx="14948974" cy="2319387"/>
          </a:xfrm>
          <a:prstGeom prst="rect">
            <a:avLst/>
          </a:prstGeom>
        </p:spPr>
        <p:txBody>
          <a:bodyPr lIns="0" tIns="0" rIns="0" bIns="0" rtlCol="0" anchor="t">
            <a:spAutoFit/>
          </a:bodyPr>
          <a:lstStyle/>
          <a:p>
            <a:pPr algn="l">
              <a:lnSpc>
                <a:spcPts val="8689"/>
              </a:lnSpc>
            </a:pPr>
            <a:r>
              <a:rPr lang="en-US" sz="8689" b="1" spc="173">
                <a:solidFill>
                  <a:srgbClr val="FFFFFF"/>
                </a:solidFill>
                <a:latin typeface="Boston Angel Bold"/>
                <a:ea typeface="Boston Angel Bold"/>
                <a:cs typeface="Boston Angel Bold"/>
                <a:sym typeface="Boston Angel Bold"/>
              </a:rPr>
              <a:t>A Machine-Learning Proxy for Reservoir Simulation</a:t>
            </a:r>
          </a:p>
        </p:txBody>
      </p:sp>
      <p:sp>
        <p:nvSpPr>
          <p:cNvPr id="6" name="TextBox 6"/>
          <p:cNvSpPr txBox="1"/>
          <p:nvPr/>
        </p:nvSpPr>
        <p:spPr>
          <a:xfrm>
            <a:off x="1372487" y="5781662"/>
            <a:ext cx="6236633" cy="483524"/>
          </a:xfrm>
          <a:prstGeom prst="rect">
            <a:avLst/>
          </a:prstGeom>
        </p:spPr>
        <p:txBody>
          <a:bodyPr lIns="0" tIns="0" rIns="0" bIns="0" rtlCol="0" anchor="t">
            <a:spAutoFit/>
          </a:bodyPr>
          <a:lstStyle/>
          <a:p>
            <a:pPr algn="l">
              <a:lnSpc>
                <a:spcPts val="3755"/>
              </a:lnSpc>
            </a:pPr>
            <a:r>
              <a:rPr lang="en-US" sz="3755" b="1" spc="75">
                <a:solidFill>
                  <a:srgbClr val="FFFFFF"/>
                </a:solidFill>
                <a:latin typeface="PT Serif Bold"/>
                <a:ea typeface="PT Serif Bold"/>
                <a:cs typeface="PT Serif Bold"/>
                <a:sym typeface="PT Serif Bold"/>
              </a:rPr>
              <a:t>Team: Intern’s Level </a:t>
            </a:r>
          </a:p>
        </p:txBody>
      </p:sp>
      <p:sp>
        <p:nvSpPr>
          <p:cNvPr id="7" name="TextBox 7"/>
          <p:cNvSpPr txBox="1"/>
          <p:nvPr/>
        </p:nvSpPr>
        <p:spPr>
          <a:xfrm>
            <a:off x="1365826" y="7539416"/>
            <a:ext cx="3678793" cy="327660"/>
          </a:xfrm>
          <a:prstGeom prst="rect">
            <a:avLst/>
          </a:prstGeom>
        </p:spPr>
        <p:txBody>
          <a:bodyPr lIns="0" tIns="0" rIns="0" bIns="0" rtlCol="0" anchor="t">
            <a:spAutoFit/>
          </a:bodyPr>
          <a:lstStyle/>
          <a:p>
            <a:pPr algn="l">
              <a:lnSpc>
                <a:spcPts val="2400"/>
              </a:lnSpc>
            </a:pPr>
            <a:r>
              <a:rPr lang="en-US" sz="2400" b="1" spc="48">
                <a:solidFill>
                  <a:srgbClr val="FFFFFF"/>
                </a:solidFill>
                <a:latin typeface="PT Serif Bold"/>
                <a:ea typeface="PT Serif Bold"/>
                <a:cs typeface="PT Serif Bold"/>
                <a:sym typeface="PT Serif Bold"/>
              </a:rPr>
              <a:t>Team member:</a:t>
            </a:r>
          </a:p>
        </p:txBody>
      </p:sp>
      <p:sp>
        <p:nvSpPr>
          <p:cNvPr id="8" name="TextBox 8"/>
          <p:cNvSpPr txBox="1"/>
          <p:nvPr/>
        </p:nvSpPr>
        <p:spPr>
          <a:xfrm>
            <a:off x="1134898" y="8016240"/>
            <a:ext cx="4572540" cy="1242060"/>
          </a:xfrm>
          <a:prstGeom prst="rect">
            <a:avLst/>
          </a:prstGeom>
        </p:spPr>
        <p:txBody>
          <a:bodyPr lIns="0" tIns="0" rIns="0" bIns="0" rtlCol="0" anchor="t">
            <a:spAutoFit/>
          </a:bodyPr>
          <a:lstStyle/>
          <a:p>
            <a:pPr marL="517855" lvl="1" indent="-258928" algn="l">
              <a:lnSpc>
                <a:spcPts val="2400"/>
              </a:lnSpc>
              <a:buAutoNum type="arabicPeriod"/>
            </a:pPr>
            <a:r>
              <a:rPr lang="en-US" sz="2400" b="1" spc="48">
                <a:solidFill>
                  <a:srgbClr val="FFFFFF"/>
                </a:solidFill>
                <a:latin typeface="PT Serif Bold"/>
                <a:ea typeface="PT Serif Bold"/>
                <a:cs typeface="PT Serif Bold"/>
                <a:sym typeface="PT Serif Bold"/>
              </a:rPr>
              <a:t>Choong Ming Hang</a:t>
            </a:r>
          </a:p>
          <a:p>
            <a:pPr marL="517855" lvl="1" indent="-258928" algn="l">
              <a:lnSpc>
                <a:spcPts val="2400"/>
              </a:lnSpc>
              <a:buAutoNum type="arabicPeriod"/>
            </a:pPr>
            <a:r>
              <a:rPr lang="en-US" sz="2400" b="1" spc="48">
                <a:solidFill>
                  <a:srgbClr val="FFFFFF"/>
                </a:solidFill>
                <a:latin typeface="PT Serif Bold"/>
                <a:ea typeface="PT Serif Bold"/>
                <a:cs typeface="PT Serif Bold"/>
                <a:sym typeface="PT Serif Bold"/>
              </a:rPr>
              <a:t>Koay Khoon Lyn</a:t>
            </a:r>
          </a:p>
          <a:p>
            <a:pPr marL="517855" lvl="1" indent="-258928" algn="l">
              <a:lnSpc>
                <a:spcPts val="2400"/>
              </a:lnSpc>
              <a:buAutoNum type="arabicPeriod"/>
            </a:pPr>
            <a:r>
              <a:rPr lang="en-US" sz="2400" b="1" spc="48">
                <a:solidFill>
                  <a:srgbClr val="FFFFFF"/>
                </a:solidFill>
                <a:latin typeface="PT Serif Bold"/>
                <a:ea typeface="PT Serif Bold"/>
                <a:cs typeface="PT Serif Bold"/>
                <a:sym typeface="PT Serif Bold"/>
              </a:rPr>
              <a:t>Tan Pei Ying</a:t>
            </a:r>
          </a:p>
          <a:p>
            <a:pPr marL="517855" lvl="1" indent="-258928" algn="l">
              <a:lnSpc>
                <a:spcPts val="2400"/>
              </a:lnSpc>
              <a:buAutoNum type="arabicPeriod"/>
            </a:pPr>
            <a:r>
              <a:rPr lang="en-US" sz="2400" b="1" spc="48">
                <a:solidFill>
                  <a:srgbClr val="FFFFFF"/>
                </a:solidFill>
                <a:latin typeface="PT Serif Bold"/>
                <a:ea typeface="PT Serif Bold"/>
                <a:cs typeface="PT Serif Bold"/>
                <a:sym typeface="PT Serif Bold"/>
              </a:rPr>
              <a:t>Lam Zhuo Yi</a:t>
            </a:r>
          </a:p>
        </p:txBody>
      </p:sp>
      <p:sp>
        <p:nvSpPr>
          <p:cNvPr id="9" name="TextBox 9"/>
          <p:cNvSpPr txBox="1"/>
          <p:nvPr/>
        </p:nvSpPr>
        <p:spPr>
          <a:xfrm>
            <a:off x="1372487" y="6496724"/>
            <a:ext cx="4608314" cy="319874"/>
          </a:xfrm>
          <a:prstGeom prst="rect">
            <a:avLst/>
          </a:prstGeom>
        </p:spPr>
        <p:txBody>
          <a:bodyPr lIns="0" tIns="0" rIns="0" bIns="0" rtlCol="0" anchor="t">
            <a:spAutoFit/>
          </a:bodyPr>
          <a:lstStyle/>
          <a:p>
            <a:pPr algn="ctr">
              <a:lnSpc>
                <a:spcPts val="2468"/>
              </a:lnSpc>
              <a:spcBef>
                <a:spcPct val="0"/>
              </a:spcBef>
            </a:pPr>
            <a:r>
              <a:rPr lang="en-US" sz="2468" b="1" spc="49">
                <a:solidFill>
                  <a:srgbClr val="FFFFFF"/>
                </a:solidFill>
                <a:latin typeface="PT Serif Bold"/>
                <a:ea typeface="PT Serif Bold"/>
                <a:cs typeface="PT Serif Bold"/>
                <a:sym typeface="PT Serif Bold"/>
              </a:rPr>
              <a:t>University: University Malaya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228600" cy="10287000"/>
            <a:chOff x="0" y="0"/>
            <a:chExt cx="304800" cy="13716000"/>
          </a:xfrm>
        </p:grpSpPr>
        <p:sp>
          <p:nvSpPr>
            <p:cNvPr id="3" name="Freeform 3"/>
            <p:cNvSpPr/>
            <p:nvPr/>
          </p:nvSpPr>
          <p:spPr>
            <a:xfrm>
              <a:off x="0" y="0"/>
              <a:ext cx="304800" cy="13716000"/>
            </a:xfrm>
            <a:custGeom>
              <a:avLst/>
              <a:gdLst/>
              <a:ahLst/>
              <a:cxnLst/>
              <a:rect l="l" t="t" r="r" b="b"/>
              <a:pathLst>
                <a:path w="304800" h="13716000">
                  <a:moveTo>
                    <a:pt x="0" y="0"/>
                  </a:moveTo>
                  <a:lnTo>
                    <a:pt x="304800" y="0"/>
                  </a:lnTo>
                  <a:lnTo>
                    <a:pt x="304800" y="13716000"/>
                  </a:lnTo>
                  <a:lnTo>
                    <a:pt x="0" y="13716000"/>
                  </a:lnTo>
                  <a:close/>
                </a:path>
              </a:pathLst>
            </a:custGeom>
            <a:solidFill>
              <a:srgbClr val="E07A2F"/>
            </a:solidFill>
          </p:spPr>
          <p:txBody>
            <a:bodyPr/>
            <a:lstStyle/>
            <a:p>
              <a:endParaRPr lang="en-MY"/>
            </a:p>
          </p:txBody>
        </p:sp>
      </p:grpSp>
      <p:grpSp>
        <p:nvGrpSpPr>
          <p:cNvPr id="4" name="Group 4"/>
          <p:cNvGrpSpPr/>
          <p:nvPr/>
        </p:nvGrpSpPr>
        <p:grpSpPr>
          <a:xfrm>
            <a:off x="1219200" y="4528661"/>
            <a:ext cx="3276600" cy="1815465"/>
            <a:chOff x="0" y="0"/>
            <a:chExt cx="4368800" cy="2420620"/>
          </a:xfrm>
        </p:grpSpPr>
        <p:sp>
          <p:nvSpPr>
            <p:cNvPr id="5" name="Freeform 5"/>
            <p:cNvSpPr/>
            <p:nvPr/>
          </p:nvSpPr>
          <p:spPr>
            <a:xfrm>
              <a:off x="0" y="0"/>
              <a:ext cx="4368800" cy="2420620"/>
            </a:xfrm>
            <a:custGeom>
              <a:avLst/>
              <a:gdLst/>
              <a:ahLst/>
              <a:cxnLst/>
              <a:rect l="l" t="t" r="r" b="b"/>
              <a:pathLst>
                <a:path w="4368800" h="2420620">
                  <a:moveTo>
                    <a:pt x="0" y="203200"/>
                  </a:moveTo>
                  <a:cubicBezTo>
                    <a:pt x="0" y="90932"/>
                    <a:pt x="90932" y="0"/>
                    <a:pt x="203200" y="0"/>
                  </a:cubicBezTo>
                  <a:lnTo>
                    <a:pt x="4165600" y="0"/>
                  </a:lnTo>
                  <a:cubicBezTo>
                    <a:pt x="4277868" y="0"/>
                    <a:pt x="4368800" y="90932"/>
                    <a:pt x="4368800" y="203200"/>
                  </a:cubicBezTo>
                  <a:lnTo>
                    <a:pt x="4368800" y="2217420"/>
                  </a:lnTo>
                  <a:cubicBezTo>
                    <a:pt x="4368800" y="2329688"/>
                    <a:pt x="4277868" y="2420620"/>
                    <a:pt x="4165600" y="2420620"/>
                  </a:cubicBezTo>
                  <a:lnTo>
                    <a:pt x="203200" y="2420620"/>
                  </a:lnTo>
                  <a:cubicBezTo>
                    <a:pt x="90932" y="2420620"/>
                    <a:pt x="0" y="2329688"/>
                    <a:pt x="0" y="2217420"/>
                  </a:cubicBezTo>
                  <a:close/>
                </a:path>
              </a:pathLst>
            </a:custGeom>
            <a:solidFill>
              <a:srgbClr val="1F2F52"/>
            </a:solidFill>
          </p:spPr>
          <p:txBody>
            <a:bodyPr/>
            <a:lstStyle/>
            <a:p>
              <a:endParaRPr lang="en-MY"/>
            </a:p>
          </p:txBody>
        </p:sp>
      </p:grpSp>
      <p:grpSp>
        <p:nvGrpSpPr>
          <p:cNvPr id="6" name="Group 6"/>
          <p:cNvGrpSpPr/>
          <p:nvPr/>
        </p:nvGrpSpPr>
        <p:grpSpPr>
          <a:xfrm>
            <a:off x="4686300" y="5379244"/>
            <a:ext cx="533400" cy="114300"/>
            <a:chOff x="0" y="0"/>
            <a:chExt cx="711200" cy="152400"/>
          </a:xfrm>
        </p:grpSpPr>
        <p:sp>
          <p:nvSpPr>
            <p:cNvPr id="7" name="Freeform 7" descr="connector"/>
            <p:cNvSpPr/>
            <p:nvPr/>
          </p:nvSpPr>
          <p:spPr>
            <a:xfrm>
              <a:off x="0" y="0"/>
              <a:ext cx="711200" cy="152400"/>
            </a:xfrm>
            <a:custGeom>
              <a:avLst/>
              <a:gdLst/>
              <a:ahLst/>
              <a:cxnLst/>
              <a:rect l="l" t="t" r="r" b="b"/>
              <a:pathLst>
                <a:path w="711200" h="152400">
                  <a:moveTo>
                    <a:pt x="0" y="0"/>
                  </a:moveTo>
                  <a:lnTo>
                    <a:pt x="711200" y="0"/>
                  </a:lnTo>
                  <a:lnTo>
                    <a:pt x="711200" y="152400"/>
                  </a:lnTo>
                  <a:lnTo>
                    <a:pt x="0" y="152400"/>
                  </a:lnTo>
                  <a:lnTo>
                    <a:pt x="0" y="0"/>
                  </a:lnTo>
                  <a:close/>
                </a:path>
              </a:pathLst>
            </a:custGeom>
            <a:blipFill>
              <a:blip r:embed="rId2"/>
              <a:stretch>
                <a:fillRect/>
              </a:stretch>
            </a:blipFill>
          </p:spPr>
          <p:txBody>
            <a:bodyPr/>
            <a:lstStyle/>
            <a:p>
              <a:endParaRPr lang="en-MY"/>
            </a:p>
          </p:txBody>
        </p:sp>
      </p:grpSp>
      <p:grpSp>
        <p:nvGrpSpPr>
          <p:cNvPr id="8" name="Group 8"/>
          <p:cNvGrpSpPr/>
          <p:nvPr/>
        </p:nvGrpSpPr>
        <p:grpSpPr>
          <a:xfrm>
            <a:off x="5410200" y="4335780"/>
            <a:ext cx="3276600" cy="2201228"/>
            <a:chOff x="0" y="0"/>
            <a:chExt cx="4368800" cy="2934970"/>
          </a:xfrm>
        </p:grpSpPr>
        <p:sp>
          <p:nvSpPr>
            <p:cNvPr id="9" name="Freeform 9"/>
            <p:cNvSpPr/>
            <p:nvPr/>
          </p:nvSpPr>
          <p:spPr>
            <a:xfrm>
              <a:off x="0" y="0"/>
              <a:ext cx="4368800" cy="2934970"/>
            </a:xfrm>
            <a:custGeom>
              <a:avLst/>
              <a:gdLst/>
              <a:ahLst/>
              <a:cxnLst/>
              <a:rect l="l" t="t" r="r" b="b"/>
              <a:pathLst>
                <a:path w="4368800" h="2934970">
                  <a:moveTo>
                    <a:pt x="0" y="203200"/>
                  </a:moveTo>
                  <a:cubicBezTo>
                    <a:pt x="0" y="90932"/>
                    <a:pt x="90932" y="0"/>
                    <a:pt x="203200" y="0"/>
                  </a:cubicBezTo>
                  <a:lnTo>
                    <a:pt x="4165600" y="0"/>
                  </a:lnTo>
                  <a:cubicBezTo>
                    <a:pt x="4277868" y="0"/>
                    <a:pt x="4368800" y="90932"/>
                    <a:pt x="4368800" y="203200"/>
                  </a:cubicBezTo>
                  <a:lnTo>
                    <a:pt x="4368800" y="2731770"/>
                  </a:lnTo>
                  <a:cubicBezTo>
                    <a:pt x="4368800" y="2844038"/>
                    <a:pt x="4277868" y="2934970"/>
                    <a:pt x="4165600" y="2934970"/>
                  </a:cubicBezTo>
                  <a:lnTo>
                    <a:pt x="203200" y="2934970"/>
                  </a:lnTo>
                  <a:cubicBezTo>
                    <a:pt x="90932" y="2934970"/>
                    <a:pt x="0" y="2844038"/>
                    <a:pt x="0" y="2731770"/>
                  </a:cubicBezTo>
                  <a:close/>
                </a:path>
              </a:pathLst>
            </a:custGeom>
            <a:solidFill>
              <a:srgbClr val="1F2F52"/>
            </a:solidFill>
          </p:spPr>
          <p:txBody>
            <a:bodyPr/>
            <a:lstStyle/>
            <a:p>
              <a:endParaRPr lang="en-MY"/>
            </a:p>
          </p:txBody>
        </p:sp>
      </p:grpSp>
      <p:grpSp>
        <p:nvGrpSpPr>
          <p:cNvPr id="10" name="Group 10"/>
          <p:cNvGrpSpPr/>
          <p:nvPr/>
        </p:nvGrpSpPr>
        <p:grpSpPr>
          <a:xfrm>
            <a:off x="8877300" y="5379244"/>
            <a:ext cx="533400" cy="114300"/>
            <a:chOff x="0" y="0"/>
            <a:chExt cx="711200" cy="152400"/>
          </a:xfrm>
        </p:grpSpPr>
        <p:sp>
          <p:nvSpPr>
            <p:cNvPr id="11" name="Freeform 11" descr="connector"/>
            <p:cNvSpPr/>
            <p:nvPr/>
          </p:nvSpPr>
          <p:spPr>
            <a:xfrm>
              <a:off x="0" y="0"/>
              <a:ext cx="711200" cy="152400"/>
            </a:xfrm>
            <a:custGeom>
              <a:avLst/>
              <a:gdLst/>
              <a:ahLst/>
              <a:cxnLst/>
              <a:rect l="l" t="t" r="r" b="b"/>
              <a:pathLst>
                <a:path w="711200" h="152400">
                  <a:moveTo>
                    <a:pt x="0" y="0"/>
                  </a:moveTo>
                  <a:lnTo>
                    <a:pt x="711200" y="0"/>
                  </a:lnTo>
                  <a:lnTo>
                    <a:pt x="711200" y="152400"/>
                  </a:lnTo>
                  <a:lnTo>
                    <a:pt x="0" y="152400"/>
                  </a:lnTo>
                  <a:lnTo>
                    <a:pt x="0" y="0"/>
                  </a:lnTo>
                  <a:close/>
                </a:path>
              </a:pathLst>
            </a:custGeom>
            <a:blipFill>
              <a:blip r:embed="rId2"/>
              <a:stretch>
                <a:fillRect/>
              </a:stretch>
            </a:blipFill>
          </p:spPr>
          <p:txBody>
            <a:bodyPr/>
            <a:lstStyle/>
            <a:p>
              <a:endParaRPr lang="en-MY"/>
            </a:p>
          </p:txBody>
        </p:sp>
      </p:grpSp>
      <p:grpSp>
        <p:nvGrpSpPr>
          <p:cNvPr id="12" name="Group 12"/>
          <p:cNvGrpSpPr/>
          <p:nvPr/>
        </p:nvGrpSpPr>
        <p:grpSpPr>
          <a:xfrm>
            <a:off x="9601200" y="4528661"/>
            <a:ext cx="3276600" cy="1815465"/>
            <a:chOff x="0" y="0"/>
            <a:chExt cx="4368800" cy="2420620"/>
          </a:xfrm>
        </p:grpSpPr>
        <p:sp>
          <p:nvSpPr>
            <p:cNvPr id="13" name="Freeform 13"/>
            <p:cNvSpPr/>
            <p:nvPr/>
          </p:nvSpPr>
          <p:spPr>
            <a:xfrm>
              <a:off x="0" y="0"/>
              <a:ext cx="4368800" cy="2420620"/>
            </a:xfrm>
            <a:custGeom>
              <a:avLst/>
              <a:gdLst/>
              <a:ahLst/>
              <a:cxnLst/>
              <a:rect l="l" t="t" r="r" b="b"/>
              <a:pathLst>
                <a:path w="4368800" h="2420620">
                  <a:moveTo>
                    <a:pt x="0" y="203200"/>
                  </a:moveTo>
                  <a:cubicBezTo>
                    <a:pt x="0" y="90932"/>
                    <a:pt x="90932" y="0"/>
                    <a:pt x="203200" y="0"/>
                  </a:cubicBezTo>
                  <a:lnTo>
                    <a:pt x="4165600" y="0"/>
                  </a:lnTo>
                  <a:cubicBezTo>
                    <a:pt x="4277868" y="0"/>
                    <a:pt x="4368800" y="90932"/>
                    <a:pt x="4368800" y="203200"/>
                  </a:cubicBezTo>
                  <a:lnTo>
                    <a:pt x="4368800" y="2217420"/>
                  </a:lnTo>
                  <a:cubicBezTo>
                    <a:pt x="4368800" y="2329688"/>
                    <a:pt x="4277868" y="2420620"/>
                    <a:pt x="4165600" y="2420620"/>
                  </a:cubicBezTo>
                  <a:lnTo>
                    <a:pt x="203200" y="2420620"/>
                  </a:lnTo>
                  <a:cubicBezTo>
                    <a:pt x="90932" y="2420620"/>
                    <a:pt x="0" y="2329688"/>
                    <a:pt x="0" y="2217420"/>
                  </a:cubicBezTo>
                  <a:close/>
                </a:path>
              </a:pathLst>
            </a:custGeom>
            <a:solidFill>
              <a:srgbClr val="1F2F52"/>
            </a:solidFill>
          </p:spPr>
          <p:txBody>
            <a:bodyPr/>
            <a:lstStyle/>
            <a:p>
              <a:endParaRPr lang="en-MY"/>
            </a:p>
          </p:txBody>
        </p:sp>
      </p:grpSp>
      <p:grpSp>
        <p:nvGrpSpPr>
          <p:cNvPr id="14" name="Group 14"/>
          <p:cNvGrpSpPr/>
          <p:nvPr/>
        </p:nvGrpSpPr>
        <p:grpSpPr>
          <a:xfrm>
            <a:off x="13068300" y="5379244"/>
            <a:ext cx="533400" cy="114300"/>
            <a:chOff x="0" y="0"/>
            <a:chExt cx="711200" cy="152400"/>
          </a:xfrm>
        </p:grpSpPr>
        <p:sp>
          <p:nvSpPr>
            <p:cNvPr id="15" name="Freeform 15" descr="connector"/>
            <p:cNvSpPr/>
            <p:nvPr/>
          </p:nvSpPr>
          <p:spPr>
            <a:xfrm>
              <a:off x="0" y="0"/>
              <a:ext cx="711200" cy="152400"/>
            </a:xfrm>
            <a:custGeom>
              <a:avLst/>
              <a:gdLst/>
              <a:ahLst/>
              <a:cxnLst/>
              <a:rect l="l" t="t" r="r" b="b"/>
              <a:pathLst>
                <a:path w="711200" h="152400">
                  <a:moveTo>
                    <a:pt x="0" y="0"/>
                  </a:moveTo>
                  <a:lnTo>
                    <a:pt x="711200" y="0"/>
                  </a:lnTo>
                  <a:lnTo>
                    <a:pt x="711200" y="152400"/>
                  </a:lnTo>
                  <a:lnTo>
                    <a:pt x="0" y="152400"/>
                  </a:lnTo>
                  <a:lnTo>
                    <a:pt x="0" y="0"/>
                  </a:lnTo>
                  <a:close/>
                </a:path>
              </a:pathLst>
            </a:custGeom>
            <a:blipFill>
              <a:blip r:embed="rId2"/>
              <a:stretch>
                <a:fillRect/>
              </a:stretch>
            </a:blipFill>
          </p:spPr>
          <p:txBody>
            <a:bodyPr/>
            <a:lstStyle/>
            <a:p>
              <a:endParaRPr lang="en-MY"/>
            </a:p>
          </p:txBody>
        </p:sp>
      </p:grpSp>
      <p:grpSp>
        <p:nvGrpSpPr>
          <p:cNvPr id="16" name="Group 16"/>
          <p:cNvGrpSpPr/>
          <p:nvPr/>
        </p:nvGrpSpPr>
        <p:grpSpPr>
          <a:xfrm>
            <a:off x="13792200" y="4335780"/>
            <a:ext cx="3276600" cy="2201228"/>
            <a:chOff x="0" y="0"/>
            <a:chExt cx="4368800" cy="2934970"/>
          </a:xfrm>
        </p:grpSpPr>
        <p:sp>
          <p:nvSpPr>
            <p:cNvPr id="17" name="Freeform 17"/>
            <p:cNvSpPr/>
            <p:nvPr/>
          </p:nvSpPr>
          <p:spPr>
            <a:xfrm>
              <a:off x="0" y="0"/>
              <a:ext cx="4368800" cy="2934970"/>
            </a:xfrm>
            <a:custGeom>
              <a:avLst/>
              <a:gdLst/>
              <a:ahLst/>
              <a:cxnLst/>
              <a:rect l="l" t="t" r="r" b="b"/>
              <a:pathLst>
                <a:path w="4368800" h="2934970">
                  <a:moveTo>
                    <a:pt x="0" y="203200"/>
                  </a:moveTo>
                  <a:cubicBezTo>
                    <a:pt x="0" y="90932"/>
                    <a:pt x="90932" y="0"/>
                    <a:pt x="203200" y="0"/>
                  </a:cubicBezTo>
                  <a:lnTo>
                    <a:pt x="4165600" y="0"/>
                  </a:lnTo>
                  <a:cubicBezTo>
                    <a:pt x="4277868" y="0"/>
                    <a:pt x="4368800" y="90932"/>
                    <a:pt x="4368800" y="203200"/>
                  </a:cubicBezTo>
                  <a:lnTo>
                    <a:pt x="4368800" y="2731770"/>
                  </a:lnTo>
                  <a:cubicBezTo>
                    <a:pt x="4368800" y="2844038"/>
                    <a:pt x="4277868" y="2934970"/>
                    <a:pt x="4165600" y="2934970"/>
                  </a:cubicBezTo>
                  <a:lnTo>
                    <a:pt x="203200" y="2934970"/>
                  </a:lnTo>
                  <a:cubicBezTo>
                    <a:pt x="90932" y="2934970"/>
                    <a:pt x="0" y="2844038"/>
                    <a:pt x="0" y="2731770"/>
                  </a:cubicBezTo>
                  <a:close/>
                </a:path>
              </a:pathLst>
            </a:custGeom>
            <a:solidFill>
              <a:srgbClr val="1F2F52"/>
            </a:solidFill>
          </p:spPr>
          <p:txBody>
            <a:bodyPr/>
            <a:lstStyle/>
            <a:p>
              <a:endParaRPr lang="en-MY"/>
            </a:p>
          </p:txBody>
        </p:sp>
      </p:grpSp>
      <p:sp>
        <p:nvSpPr>
          <p:cNvPr id="18" name="TextBox 18"/>
          <p:cNvSpPr txBox="1"/>
          <p:nvPr/>
        </p:nvSpPr>
        <p:spPr>
          <a:xfrm>
            <a:off x="1219200" y="1171575"/>
            <a:ext cx="16325088" cy="459105"/>
          </a:xfrm>
          <a:prstGeom prst="rect">
            <a:avLst/>
          </a:prstGeom>
        </p:spPr>
        <p:txBody>
          <a:bodyPr lIns="0" tIns="0" rIns="0" bIns="0" rtlCol="0" anchor="t">
            <a:spAutoFit/>
          </a:bodyPr>
          <a:lstStyle/>
          <a:p>
            <a:pPr algn="l">
              <a:lnSpc>
                <a:spcPts val="2940"/>
              </a:lnSpc>
            </a:pPr>
            <a:r>
              <a:rPr lang="en-US" sz="2100" b="1" spc="299">
                <a:solidFill>
                  <a:srgbClr val="E07A2F"/>
                </a:solidFill>
                <a:latin typeface="IBM Plex Sans Bold"/>
                <a:ea typeface="IBM Plex Sans Bold"/>
                <a:cs typeface="IBM Plex Sans Bold"/>
                <a:sym typeface="IBM Plex Sans Bold"/>
              </a:rPr>
              <a:t>THE BUSINESS QUESTION</a:t>
            </a:r>
          </a:p>
        </p:txBody>
      </p:sp>
      <p:sp>
        <p:nvSpPr>
          <p:cNvPr id="19" name="TextBox 19"/>
          <p:cNvSpPr txBox="1"/>
          <p:nvPr/>
        </p:nvSpPr>
        <p:spPr>
          <a:xfrm>
            <a:off x="1219200" y="2164080"/>
            <a:ext cx="14716125" cy="1676400"/>
          </a:xfrm>
          <a:prstGeom prst="rect">
            <a:avLst/>
          </a:prstGeom>
        </p:spPr>
        <p:txBody>
          <a:bodyPr lIns="0" tIns="0" rIns="0" bIns="0" rtlCol="0" anchor="t">
            <a:spAutoFit/>
          </a:bodyPr>
          <a:lstStyle/>
          <a:p>
            <a:pPr algn="l">
              <a:lnSpc>
                <a:spcPts val="6600"/>
              </a:lnSpc>
            </a:pPr>
            <a:r>
              <a:rPr lang="en-US" sz="6000" b="1">
                <a:solidFill>
                  <a:srgbClr val="F7F6F2"/>
                </a:solidFill>
                <a:latin typeface="Rubik Bold"/>
                <a:ea typeface="Rubik Bold"/>
                <a:cs typeface="Rubik Bold"/>
                <a:sym typeface="Rubik Bold"/>
              </a:rPr>
              <a:t>Will this field make money over the next 20 years?</a:t>
            </a:r>
          </a:p>
        </p:txBody>
      </p:sp>
      <p:sp>
        <p:nvSpPr>
          <p:cNvPr id="20" name="TextBox 20"/>
          <p:cNvSpPr txBox="1"/>
          <p:nvPr/>
        </p:nvSpPr>
        <p:spPr>
          <a:xfrm>
            <a:off x="1524000" y="4795361"/>
            <a:ext cx="2747010" cy="396240"/>
          </a:xfrm>
          <a:prstGeom prst="rect">
            <a:avLst/>
          </a:prstGeom>
        </p:spPr>
        <p:txBody>
          <a:bodyPr lIns="0" tIns="0" rIns="0" bIns="0" rtlCol="0" anchor="t">
            <a:spAutoFit/>
          </a:bodyPr>
          <a:lstStyle/>
          <a:p>
            <a:pPr algn="l">
              <a:lnSpc>
                <a:spcPts val="2520"/>
              </a:lnSpc>
            </a:pPr>
            <a:r>
              <a:rPr lang="en-US" sz="1800" b="1">
                <a:solidFill>
                  <a:srgbClr val="E07A2F"/>
                </a:solidFill>
                <a:latin typeface="IBM Plex Sans Bold"/>
                <a:ea typeface="IBM Plex Sans Bold"/>
                <a:cs typeface="IBM Plex Sans Bold"/>
                <a:sym typeface="IBM Plex Sans Bold"/>
              </a:rPr>
              <a:t>1 · PAST</a:t>
            </a:r>
          </a:p>
        </p:txBody>
      </p:sp>
      <p:sp>
        <p:nvSpPr>
          <p:cNvPr id="21" name="TextBox 21"/>
          <p:cNvSpPr txBox="1"/>
          <p:nvPr/>
        </p:nvSpPr>
        <p:spPr>
          <a:xfrm>
            <a:off x="1524000" y="5239226"/>
            <a:ext cx="2747010" cy="838200"/>
          </a:xfrm>
          <a:prstGeom prst="rect">
            <a:avLst/>
          </a:prstGeom>
        </p:spPr>
        <p:txBody>
          <a:bodyPr lIns="0" tIns="0" rIns="0" bIns="0" rtlCol="0" anchor="t">
            <a:spAutoFit/>
          </a:bodyPr>
          <a:lstStyle/>
          <a:p>
            <a:pPr algn="l">
              <a:lnSpc>
                <a:spcPts val="3037"/>
              </a:lnSpc>
            </a:pPr>
            <a:r>
              <a:rPr lang="en-US" sz="2250">
                <a:solidFill>
                  <a:srgbClr val="F7F6F2"/>
                </a:solidFill>
                <a:latin typeface="IBM Plex Sans"/>
                <a:ea typeface="IBM Plex Sans"/>
                <a:cs typeface="IBM Plex Sans"/>
                <a:sym typeface="IBM Plex Sans"/>
              </a:rPr>
              <a:t>Real field history, 1998–2008</a:t>
            </a:r>
          </a:p>
        </p:txBody>
      </p:sp>
      <p:sp>
        <p:nvSpPr>
          <p:cNvPr id="22" name="TextBox 22"/>
          <p:cNvSpPr txBox="1"/>
          <p:nvPr/>
        </p:nvSpPr>
        <p:spPr>
          <a:xfrm>
            <a:off x="5715000" y="4602480"/>
            <a:ext cx="2747010" cy="396240"/>
          </a:xfrm>
          <a:prstGeom prst="rect">
            <a:avLst/>
          </a:prstGeom>
        </p:spPr>
        <p:txBody>
          <a:bodyPr lIns="0" tIns="0" rIns="0" bIns="0" rtlCol="0" anchor="t">
            <a:spAutoFit/>
          </a:bodyPr>
          <a:lstStyle/>
          <a:p>
            <a:pPr algn="l">
              <a:lnSpc>
                <a:spcPts val="2520"/>
              </a:lnSpc>
            </a:pPr>
            <a:r>
              <a:rPr lang="en-US" sz="1800" b="1">
                <a:solidFill>
                  <a:srgbClr val="E07A2F"/>
                </a:solidFill>
                <a:latin typeface="IBM Plex Sans Bold"/>
                <a:ea typeface="IBM Plex Sans Bold"/>
                <a:cs typeface="IBM Plex Sans Bold"/>
                <a:sym typeface="IBM Plex Sans Bold"/>
              </a:rPr>
              <a:t>2 · MATCH</a:t>
            </a:r>
          </a:p>
        </p:txBody>
      </p:sp>
      <p:sp>
        <p:nvSpPr>
          <p:cNvPr id="23" name="TextBox 23"/>
          <p:cNvSpPr txBox="1"/>
          <p:nvPr/>
        </p:nvSpPr>
        <p:spPr>
          <a:xfrm>
            <a:off x="5715000" y="5046345"/>
            <a:ext cx="2747010" cy="1223963"/>
          </a:xfrm>
          <a:prstGeom prst="rect">
            <a:avLst/>
          </a:prstGeom>
        </p:spPr>
        <p:txBody>
          <a:bodyPr lIns="0" tIns="0" rIns="0" bIns="0" rtlCol="0" anchor="t">
            <a:spAutoFit/>
          </a:bodyPr>
          <a:lstStyle/>
          <a:p>
            <a:pPr algn="l">
              <a:lnSpc>
                <a:spcPts val="3037"/>
              </a:lnSpc>
            </a:pPr>
            <a:r>
              <a:rPr lang="en-US" sz="2250">
                <a:solidFill>
                  <a:srgbClr val="F7F6F2"/>
                </a:solidFill>
                <a:latin typeface="IBM Plex Sans"/>
                <a:ea typeface="IBM Plex Sans"/>
                <a:cs typeface="IBM Plex Sans"/>
                <a:sym typeface="IBM Plex Sans"/>
              </a:rPr>
              <a:t>Find reservoir settings that reproduce it</a:t>
            </a:r>
          </a:p>
        </p:txBody>
      </p:sp>
      <p:sp>
        <p:nvSpPr>
          <p:cNvPr id="24" name="TextBox 24"/>
          <p:cNvSpPr txBox="1"/>
          <p:nvPr/>
        </p:nvSpPr>
        <p:spPr>
          <a:xfrm>
            <a:off x="9906000" y="4795361"/>
            <a:ext cx="2747010" cy="396240"/>
          </a:xfrm>
          <a:prstGeom prst="rect">
            <a:avLst/>
          </a:prstGeom>
        </p:spPr>
        <p:txBody>
          <a:bodyPr lIns="0" tIns="0" rIns="0" bIns="0" rtlCol="0" anchor="t">
            <a:spAutoFit/>
          </a:bodyPr>
          <a:lstStyle/>
          <a:p>
            <a:pPr algn="l">
              <a:lnSpc>
                <a:spcPts val="2520"/>
              </a:lnSpc>
            </a:pPr>
            <a:r>
              <a:rPr lang="en-US" sz="1800" b="1">
                <a:solidFill>
                  <a:srgbClr val="E07A2F"/>
                </a:solidFill>
                <a:latin typeface="IBM Plex Sans Bold"/>
                <a:ea typeface="IBM Plex Sans Bold"/>
                <a:cs typeface="IBM Plex Sans Bold"/>
                <a:sym typeface="IBM Plex Sans Bold"/>
              </a:rPr>
              <a:t>3 · FORECAST</a:t>
            </a:r>
          </a:p>
        </p:txBody>
      </p:sp>
      <p:sp>
        <p:nvSpPr>
          <p:cNvPr id="25" name="TextBox 25"/>
          <p:cNvSpPr txBox="1"/>
          <p:nvPr/>
        </p:nvSpPr>
        <p:spPr>
          <a:xfrm>
            <a:off x="9906000" y="5239226"/>
            <a:ext cx="2747010" cy="838200"/>
          </a:xfrm>
          <a:prstGeom prst="rect">
            <a:avLst/>
          </a:prstGeom>
        </p:spPr>
        <p:txBody>
          <a:bodyPr lIns="0" tIns="0" rIns="0" bIns="0" rtlCol="0" anchor="t">
            <a:spAutoFit/>
          </a:bodyPr>
          <a:lstStyle/>
          <a:p>
            <a:pPr algn="l">
              <a:lnSpc>
                <a:spcPts val="3037"/>
              </a:lnSpc>
            </a:pPr>
            <a:r>
              <a:rPr lang="en-US" sz="2250">
                <a:solidFill>
                  <a:srgbClr val="F7F6F2"/>
                </a:solidFill>
                <a:latin typeface="IBM Plex Sans"/>
                <a:ea typeface="IBM Plex Sans"/>
                <a:cs typeface="IBM Plex Sans"/>
                <a:sym typeface="IBM Plex Sans"/>
              </a:rPr>
              <a:t>Oil, gas and water, 2008–2028</a:t>
            </a:r>
          </a:p>
        </p:txBody>
      </p:sp>
      <p:sp>
        <p:nvSpPr>
          <p:cNvPr id="26" name="TextBox 26"/>
          <p:cNvSpPr txBox="1"/>
          <p:nvPr/>
        </p:nvSpPr>
        <p:spPr>
          <a:xfrm>
            <a:off x="14097000" y="4602480"/>
            <a:ext cx="2747010" cy="396240"/>
          </a:xfrm>
          <a:prstGeom prst="rect">
            <a:avLst/>
          </a:prstGeom>
        </p:spPr>
        <p:txBody>
          <a:bodyPr lIns="0" tIns="0" rIns="0" bIns="0" rtlCol="0" anchor="t">
            <a:spAutoFit/>
          </a:bodyPr>
          <a:lstStyle/>
          <a:p>
            <a:pPr algn="l">
              <a:lnSpc>
                <a:spcPts val="2520"/>
              </a:lnSpc>
            </a:pPr>
            <a:r>
              <a:rPr lang="en-US" sz="1800" b="1">
                <a:solidFill>
                  <a:srgbClr val="E07A2F"/>
                </a:solidFill>
                <a:latin typeface="IBM Plex Sans Bold"/>
                <a:ea typeface="IBM Plex Sans Bold"/>
                <a:cs typeface="IBM Plex Sans Bold"/>
                <a:sym typeface="IBM Plex Sans Bold"/>
              </a:rPr>
              <a:t>4 · DECIDE</a:t>
            </a:r>
          </a:p>
        </p:txBody>
      </p:sp>
      <p:sp>
        <p:nvSpPr>
          <p:cNvPr id="27" name="TextBox 27"/>
          <p:cNvSpPr txBox="1"/>
          <p:nvPr/>
        </p:nvSpPr>
        <p:spPr>
          <a:xfrm>
            <a:off x="14097000" y="5046345"/>
            <a:ext cx="2747010" cy="1223963"/>
          </a:xfrm>
          <a:prstGeom prst="rect">
            <a:avLst/>
          </a:prstGeom>
        </p:spPr>
        <p:txBody>
          <a:bodyPr lIns="0" tIns="0" rIns="0" bIns="0" rtlCol="0" anchor="t">
            <a:spAutoFit/>
          </a:bodyPr>
          <a:lstStyle/>
          <a:p>
            <a:pPr algn="l">
              <a:lnSpc>
                <a:spcPts val="3037"/>
              </a:lnSpc>
            </a:pPr>
            <a:r>
              <a:rPr lang="en-US" sz="2250">
                <a:solidFill>
                  <a:srgbClr val="F7F6F2"/>
                </a:solidFill>
                <a:latin typeface="IBM Plex Sans"/>
                <a:ea typeface="IBM Plex Sans"/>
                <a:cs typeface="IBM Plex Sans"/>
                <a:sym typeface="IBM Plex Sans"/>
              </a:rPr>
              <a:t>Invest, plan facilities, manage water</a:t>
            </a:r>
          </a:p>
        </p:txBody>
      </p:sp>
      <p:sp>
        <p:nvSpPr>
          <p:cNvPr id="28" name="TextBox 28"/>
          <p:cNvSpPr txBox="1"/>
          <p:nvPr/>
        </p:nvSpPr>
        <p:spPr>
          <a:xfrm>
            <a:off x="1219200" y="7032307"/>
            <a:ext cx="14716125" cy="476250"/>
          </a:xfrm>
          <a:prstGeom prst="rect">
            <a:avLst/>
          </a:prstGeom>
        </p:spPr>
        <p:txBody>
          <a:bodyPr lIns="0" tIns="0" rIns="0" bIns="0" rtlCol="0" anchor="t">
            <a:spAutoFit/>
          </a:bodyPr>
          <a:lstStyle/>
          <a:p>
            <a:pPr algn="l">
              <a:lnSpc>
                <a:spcPts val="3149"/>
              </a:lnSpc>
            </a:pPr>
            <a:r>
              <a:rPr lang="en-US" sz="2250">
                <a:solidFill>
                  <a:srgbClr val="C9D3E0"/>
                </a:solidFill>
                <a:latin typeface="IBM Plex Sans"/>
                <a:ea typeface="IBM Plex Sans"/>
                <a:cs typeface="IBM Plex Sans"/>
                <a:sym typeface="IBM Plex Sans"/>
              </a:rPr>
              <a:t>The physics simulator is slow, so we build a fast ML copy (a proxy) to test many settings.</a:t>
            </a:r>
          </a:p>
        </p:txBody>
      </p:sp>
      <p:sp>
        <p:nvSpPr>
          <p:cNvPr id="29" name="TextBox 29"/>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9AA8BC"/>
                </a:solidFill>
                <a:latin typeface="IBM Plex Sans"/>
                <a:ea typeface="IBM Plex Sans"/>
                <a:cs typeface="IBM Plex Sans"/>
                <a:sym typeface="IBM Plex Sans"/>
              </a:rPr>
              <a:t>T1 · Business &amp; data</a:t>
            </a:r>
          </a:p>
        </p:txBody>
      </p:sp>
      <p:sp>
        <p:nvSpPr>
          <p:cNvPr id="30" name="TextBox 30"/>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9AA8BC"/>
                </a:solidFill>
                <a:latin typeface="IBM Plex Sans"/>
                <a:ea typeface="IBM Plex Sans"/>
                <a:cs typeface="IBM Plex Sans"/>
                <a:sym typeface="IBM Plex Sans"/>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grpSp>
        <p:nvGrpSpPr>
          <p:cNvPr id="2" name="Group 2"/>
          <p:cNvGrpSpPr/>
          <p:nvPr/>
        </p:nvGrpSpPr>
        <p:grpSpPr>
          <a:xfrm>
            <a:off x="1219200" y="2270760"/>
            <a:ext cx="5105400" cy="2571750"/>
            <a:chOff x="0" y="0"/>
            <a:chExt cx="6807200" cy="3429000"/>
          </a:xfrm>
        </p:grpSpPr>
        <p:sp>
          <p:nvSpPr>
            <p:cNvPr id="3" name="Freeform 3"/>
            <p:cNvSpPr/>
            <p:nvPr/>
          </p:nvSpPr>
          <p:spPr>
            <a:xfrm>
              <a:off x="0" y="0"/>
              <a:ext cx="6807200" cy="3429000"/>
            </a:xfrm>
            <a:custGeom>
              <a:avLst/>
              <a:gdLst/>
              <a:ahLst/>
              <a:cxnLst/>
              <a:rect l="l" t="t" r="r" b="b"/>
              <a:pathLst>
                <a:path w="6807200" h="3429000">
                  <a:moveTo>
                    <a:pt x="0" y="197612"/>
                  </a:moveTo>
                  <a:cubicBezTo>
                    <a:pt x="0" y="88519"/>
                    <a:pt x="88519" y="0"/>
                    <a:pt x="197612" y="0"/>
                  </a:cubicBezTo>
                  <a:lnTo>
                    <a:pt x="6609588" y="0"/>
                  </a:lnTo>
                  <a:cubicBezTo>
                    <a:pt x="6718681" y="0"/>
                    <a:pt x="6807200" y="88519"/>
                    <a:pt x="6807200" y="197612"/>
                  </a:cubicBezTo>
                  <a:lnTo>
                    <a:pt x="6807200" y="3231388"/>
                  </a:lnTo>
                  <a:cubicBezTo>
                    <a:pt x="6807200" y="3340481"/>
                    <a:pt x="6718681" y="3429000"/>
                    <a:pt x="6609588" y="3429000"/>
                  </a:cubicBezTo>
                  <a:lnTo>
                    <a:pt x="197612" y="3429000"/>
                  </a:lnTo>
                  <a:cubicBezTo>
                    <a:pt x="88519" y="3429000"/>
                    <a:pt x="0" y="3340481"/>
                    <a:pt x="0" y="3231388"/>
                  </a:cubicBezTo>
                  <a:close/>
                </a:path>
              </a:pathLst>
            </a:custGeom>
            <a:solidFill>
              <a:srgbClr val="FFFFFF"/>
            </a:solidFill>
            <a:ln w="9525" cap="sq">
              <a:solidFill>
                <a:srgbClr val="DCE1E8"/>
              </a:solidFill>
              <a:prstDash val="solid"/>
              <a:miter/>
            </a:ln>
          </p:spPr>
          <p:txBody>
            <a:bodyPr/>
            <a:lstStyle/>
            <a:p>
              <a:endParaRPr lang="en-MY"/>
            </a:p>
          </p:txBody>
        </p:sp>
      </p:grpSp>
      <p:grpSp>
        <p:nvGrpSpPr>
          <p:cNvPr id="4" name="Group 4"/>
          <p:cNvGrpSpPr/>
          <p:nvPr/>
        </p:nvGrpSpPr>
        <p:grpSpPr>
          <a:xfrm>
            <a:off x="6591300" y="2270760"/>
            <a:ext cx="5105400" cy="2571750"/>
            <a:chOff x="0" y="0"/>
            <a:chExt cx="6807200" cy="3429000"/>
          </a:xfrm>
        </p:grpSpPr>
        <p:sp>
          <p:nvSpPr>
            <p:cNvPr id="5" name="Freeform 5"/>
            <p:cNvSpPr/>
            <p:nvPr/>
          </p:nvSpPr>
          <p:spPr>
            <a:xfrm>
              <a:off x="0" y="0"/>
              <a:ext cx="6807200" cy="3429000"/>
            </a:xfrm>
            <a:custGeom>
              <a:avLst/>
              <a:gdLst/>
              <a:ahLst/>
              <a:cxnLst/>
              <a:rect l="l" t="t" r="r" b="b"/>
              <a:pathLst>
                <a:path w="6807200" h="3429000">
                  <a:moveTo>
                    <a:pt x="0" y="197612"/>
                  </a:moveTo>
                  <a:cubicBezTo>
                    <a:pt x="0" y="88519"/>
                    <a:pt x="88519" y="0"/>
                    <a:pt x="197612" y="0"/>
                  </a:cubicBezTo>
                  <a:lnTo>
                    <a:pt x="6609588" y="0"/>
                  </a:lnTo>
                  <a:cubicBezTo>
                    <a:pt x="6718681" y="0"/>
                    <a:pt x="6807200" y="88519"/>
                    <a:pt x="6807200" y="197612"/>
                  </a:cubicBezTo>
                  <a:lnTo>
                    <a:pt x="6807200" y="3231388"/>
                  </a:lnTo>
                  <a:cubicBezTo>
                    <a:pt x="6807200" y="3340481"/>
                    <a:pt x="6718681" y="3429000"/>
                    <a:pt x="6609588" y="3429000"/>
                  </a:cubicBezTo>
                  <a:lnTo>
                    <a:pt x="197612" y="3429000"/>
                  </a:lnTo>
                  <a:cubicBezTo>
                    <a:pt x="88519" y="3429000"/>
                    <a:pt x="0" y="3340481"/>
                    <a:pt x="0" y="3231388"/>
                  </a:cubicBezTo>
                  <a:close/>
                </a:path>
              </a:pathLst>
            </a:custGeom>
            <a:solidFill>
              <a:srgbClr val="FFFFFF"/>
            </a:solidFill>
            <a:ln w="9525" cap="sq">
              <a:solidFill>
                <a:srgbClr val="DCE1E8"/>
              </a:solidFill>
              <a:prstDash val="solid"/>
              <a:miter/>
            </a:ln>
          </p:spPr>
          <p:txBody>
            <a:bodyPr/>
            <a:lstStyle/>
            <a:p>
              <a:endParaRPr lang="en-MY"/>
            </a:p>
          </p:txBody>
        </p:sp>
      </p:grpSp>
      <p:grpSp>
        <p:nvGrpSpPr>
          <p:cNvPr id="6" name="Group 6"/>
          <p:cNvGrpSpPr/>
          <p:nvPr/>
        </p:nvGrpSpPr>
        <p:grpSpPr>
          <a:xfrm>
            <a:off x="11963400" y="2270760"/>
            <a:ext cx="5105400" cy="2571750"/>
            <a:chOff x="0" y="0"/>
            <a:chExt cx="6807200" cy="3429000"/>
          </a:xfrm>
        </p:grpSpPr>
        <p:sp>
          <p:nvSpPr>
            <p:cNvPr id="7" name="Freeform 7"/>
            <p:cNvSpPr/>
            <p:nvPr/>
          </p:nvSpPr>
          <p:spPr>
            <a:xfrm>
              <a:off x="0" y="0"/>
              <a:ext cx="6807200" cy="3429000"/>
            </a:xfrm>
            <a:custGeom>
              <a:avLst/>
              <a:gdLst/>
              <a:ahLst/>
              <a:cxnLst/>
              <a:rect l="l" t="t" r="r" b="b"/>
              <a:pathLst>
                <a:path w="6807200" h="3429000">
                  <a:moveTo>
                    <a:pt x="0" y="197612"/>
                  </a:moveTo>
                  <a:cubicBezTo>
                    <a:pt x="0" y="88519"/>
                    <a:pt x="88519" y="0"/>
                    <a:pt x="197612" y="0"/>
                  </a:cubicBezTo>
                  <a:lnTo>
                    <a:pt x="6609588" y="0"/>
                  </a:lnTo>
                  <a:cubicBezTo>
                    <a:pt x="6718681" y="0"/>
                    <a:pt x="6807200" y="88519"/>
                    <a:pt x="6807200" y="197612"/>
                  </a:cubicBezTo>
                  <a:lnTo>
                    <a:pt x="6807200" y="3231388"/>
                  </a:lnTo>
                  <a:cubicBezTo>
                    <a:pt x="6807200" y="3340481"/>
                    <a:pt x="6718681" y="3429000"/>
                    <a:pt x="6609588" y="3429000"/>
                  </a:cubicBezTo>
                  <a:lnTo>
                    <a:pt x="197612" y="3429000"/>
                  </a:lnTo>
                  <a:cubicBezTo>
                    <a:pt x="88519" y="3429000"/>
                    <a:pt x="0" y="3340481"/>
                    <a:pt x="0" y="3231388"/>
                  </a:cubicBezTo>
                  <a:close/>
                </a:path>
              </a:pathLst>
            </a:custGeom>
            <a:solidFill>
              <a:srgbClr val="FFFFFF"/>
            </a:solidFill>
            <a:ln w="9525" cap="sq">
              <a:solidFill>
                <a:srgbClr val="DCE1E8"/>
              </a:solidFill>
              <a:prstDash val="solid"/>
              <a:miter/>
            </a:ln>
          </p:spPr>
          <p:txBody>
            <a:bodyPr/>
            <a:lstStyle/>
            <a:p>
              <a:endParaRPr lang="en-MY"/>
            </a:p>
          </p:txBody>
        </p:sp>
      </p:grpSp>
      <p:grpSp>
        <p:nvGrpSpPr>
          <p:cNvPr id="8" name="Group 8"/>
          <p:cNvGrpSpPr/>
          <p:nvPr/>
        </p:nvGrpSpPr>
        <p:grpSpPr>
          <a:xfrm>
            <a:off x="1219200" y="5223510"/>
            <a:ext cx="15849600" cy="1356360"/>
            <a:chOff x="0" y="0"/>
            <a:chExt cx="21132800" cy="1808480"/>
          </a:xfrm>
        </p:grpSpPr>
        <p:sp>
          <p:nvSpPr>
            <p:cNvPr id="9" name="Freeform 9"/>
            <p:cNvSpPr/>
            <p:nvPr/>
          </p:nvSpPr>
          <p:spPr>
            <a:xfrm>
              <a:off x="0" y="0"/>
              <a:ext cx="21132800" cy="1808480"/>
            </a:xfrm>
            <a:custGeom>
              <a:avLst/>
              <a:gdLst/>
              <a:ahLst/>
              <a:cxnLst/>
              <a:rect l="l" t="t" r="r" b="b"/>
              <a:pathLst>
                <a:path w="21132800" h="1808480">
                  <a:moveTo>
                    <a:pt x="0" y="203200"/>
                  </a:moveTo>
                  <a:cubicBezTo>
                    <a:pt x="0" y="90932"/>
                    <a:pt x="90932" y="0"/>
                    <a:pt x="203200" y="0"/>
                  </a:cubicBezTo>
                  <a:lnTo>
                    <a:pt x="20929600" y="0"/>
                  </a:lnTo>
                  <a:cubicBezTo>
                    <a:pt x="21041868" y="0"/>
                    <a:pt x="21132800" y="90932"/>
                    <a:pt x="21132800" y="203200"/>
                  </a:cubicBezTo>
                  <a:lnTo>
                    <a:pt x="21132800" y="1605280"/>
                  </a:lnTo>
                  <a:cubicBezTo>
                    <a:pt x="21132800" y="1717548"/>
                    <a:pt x="21041868" y="1808480"/>
                    <a:pt x="20929600" y="1808480"/>
                  </a:cubicBezTo>
                  <a:lnTo>
                    <a:pt x="203200" y="1808480"/>
                  </a:lnTo>
                  <a:cubicBezTo>
                    <a:pt x="90932" y="1808480"/>
                    <a:pt x="0" y="1717548"/>
                    <a:pt x="0" y="1605280"/>
                  </a:cubicBezTo>
                  <a:close/>
                </a:path>
              </a:pathLst>
            </a:custGeom>
            <a:solidFill>
              <a:srgbClr val="14213D"/>
            </a:solidFill>
          </p:spPr>
          <p:txBody>
            <a:bodyPr/>
            <a:lstStyle/>
            <a:p>
              <a:endParaRPr lang="en-MY"/>
            </a:p>
          </p:txBody>
        </p:sp>
      </p:grpSp>
      <p:sp>
        <p:nvSpPr>
          <p:cNvPr id="10" name="TextBox 10"/>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From raw files to one clean table</a:t>
            </a:r>
          </a:p>
        </p:txBody>
      </p:sp>
      <p:sp>
        <p:nvSpPr>
          <p:cNvPr id="11" name="TextBox 11"/>
          <p:cNvSpPr txBox="1"/>
          <p:nvPr/>
        </p:nvSpPr>
        <p:spPr>
          <a:xfrm>
            <a:off x="1531620" y="2545080"/>
            <a:ext cx="4614977" cy="396240"/>
          </a:xfrm>
          <a:prstGeom prst="rect">
            <a:avLst/>
          </a:prstGeom>
        </p:spPr>
        <p:txBody>
          <a:bodyPr lIns="0" tIns="0" rIns="0" bIns="0" rtlCol="0" anchor="t">
            <a:spAutoFit/>
          </a:bodyPr>
          <a:lstStyle/>
          <a:p>
            <a:pPr algn="l">
              <a:lnSpc>
                <a:spcPts val="2520"/>
              </a:lnSpc>
            </a:pPr>
            <a:r>
              <a:rPr lang="en-US" sz="1800" b="1">
                <a:solidFill>
                  <a:srgbClr val="B5561A"/>
                </a:solidFill>
                <a:latin typeface="IBM Plex Sans Bold"/>
                <a:ea typeface="IBM Plex Sans Bold"/>
                <a:cs typeface="IBM Plex Sans Bold"/>
                <a:sym typeface="IBM Plex Sans Bold"/>
              </a:rPr>
              <a:t>1 · ALIGN</a:t>
            </a:r>
          </a:p>
        </p:txBody>
      </p:sp>
      <p:sp>
        <p:nvSpPr>
          <p:cNvPr id="12" name="TextBox 12"/>
          <p:cNvSpPr txBox="1"/>
          <p:nvPr/>
        </p:nvSpPr>
        <p:spPr>
          <a:xfrm>
            <a:off x="1531620" y="2988945"/>
            <a:ext cx="4614977" cy="120586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Keep the 41 quarterly dates where the real field was measured: exact values, nothing estimated</a:t>
            </a:r>
          </a:p>
        </p:txBody>
      </p:sp>
      <p:sp>
        <p:nvSpPr>
          <p:cNvPr id="13" name="TextBox 13"/>
          <p:cNvSpPr txBox="1"/>
          <p:nvPr/>
        </p:nvSpPr>
        <p:spPr>
          <a:xfrm>
            <a:off x="6903720" y="2545080"/>
            <a:ext cx="4614977" cy="396240"/>
          </a:xfrm>
          <a:prstGeom prst="rect">
            <a:avLst/>
          </a:prstGeom>
        </p:spPr>
        <p:txBody>
          <a:bodyPr lIns="0" tIns="0" rIns="0" bIns="0" rtlCol="0" anchor="t">
            <a:spAutoFit/>
          </a:bodyPr>
          <a:lstStyle/>
          <a:p>
            <a:pPr algn="l">
              <a:lnSpc>
                <a:spcPts val="2520"/>
              </a:lnSpc>
            </a:pPr>
            <a:r>
              <a:rPr lang="en-US" sz="1800" b="1">
                <a:solidFill>
                  <a:srgbClr val="B5561A"/>
                </a:solidFill>
                <a:latin typeface="IBM Plex Sans Bold"/>
                <a:ea typeface="IBM Plex Sans Bold"/>
                <a:cs typeface="IBM Plex Sans Bold"/>
                <a:sym typeface="IBM Plex Sans Bold"/>
              </a:rPr>
              <a:t>2 · FIX RATES</a:t>
            </a:r>
          </a:p>
        </p:txBody>
      </p:sp>
      <p:sp>
        <p:nvSpPr>
          <p:cNvPr id="14" name="TextBox 14"/>
          <p:cNvSpPr txBox="1"/>
          <p:nvPr/>
        </p:nvSpPr>
        <p:spPr>
          <a:xfrm>
            <a:off x="6903720" y="2988945"/>
            <a:ext cx="4614977" cy="157924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Simulator and real rates were 3 months apart, so every rate is recomputed from the cumulative totals</a:t>
            </a:r>
          </a:p>
        </p:txBody>
      </p:sp>
      <p:sp>
        <p:nvSpPr>
          <p:cNvPr id="15" name="TextBox 15"/>
          <p:cNvSpPr txBox="1"/>
          <p:nvPr/>
        </p:nvSpPr>
        <p:spPr>
          <a:xfrm>
            <a:off x="12275820" y="2545080"/>
            <a:ext cx="4614977" cy="396240"/>
          </a:xfrm>
          <a:prstGeom prst="rect">
            <a:avLst/>
          </a:prstGeom>
        </p:spPr>
        <p:txBody>
          <a:bodyPr lIns="0" tIns="0" rIns="0" bIns="0" rtlCol="0" anchor="t">
            <a:spAutoFit/>
          </a:bodyPr>
          <a:lstStyle/>
          <a:p>
            <a:pPr algn="l">
              <a:lnSpc>
                <a:spcPts val="2520"/>
              </a:lnSpc>
            </a:pPr>
            <a:r>
              <a:rPr lang="en-US" sz="1800" b="1">
                <a:solidFill>
                  <a:srgbClr val="B5561A"/>
                </a:solidFill>
                <a:latin typeface="IBM Plex Sans Bold"/>
                <a:ea typeface="IBM Plex Sans Bold"/>
                <a:cs typeface="IBM Plex Sans Bold"/>
                <a:sym typeface="IBM Plex Sans Bold"/>
              </a:rPr>
              <a:t>3 · SPLIT</a:t>
            </a:r>
          </a:p>
        </p:txBody>
      </p:sp>
      <p:sp>
        <p:nvSpPr>
          <p:cNvPr id="16" name="TextBox 16"/>
          <p:cNvSpPr txBox="1"/>
          <p:nvPr/>
        </p:nvSpPr>
        <p:spPr>
          <a:xfrm>
            <a:off x="12275820" y="2988945"/>
            <a:ext cx="4614977" cy="83248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Organisers’ split: train 1–70, validation 71–85, test 86–100</a:t>
            </a:r>
          </a:p>
        </p:txBody>
      </p:sp>
      <p:sp>
        <p:nvSpPr>
          <p:cNvPr id="17" name="TextBox 17"/>
          <p:cNvSpPr txBox="1"/>
          <p:nvPr/>
        </p:nvSpPr>
        <p:spPr>
          <a:xfrm>
            <a:off x="1447800" y="5645163"/>
            <a:ext cx="3180931" cy="694677"/>
          </a:xfrm>
          <a:prstGeom prst="rect">
            <a:avLst/>
          </a:prstGeom>
        </p:spPr>
        <p:txBody>
          <a:bodyPr wrap="square" lIns="0" tIns="0" rIns="0" bIns="0" rtlCol="0" anchor="t">
            <a:spAutoFit/>
          </a:bodyPr>
          <a:lstStyle/>
          <a:p>
            <a:pPr algn="l">
              <a:lnSpc>
                <a:spcPts val="5400"/>
              </a:lnSpc>
            </a:pPr>
            <a:r>
              <a:rPr lang="en-US" sz="5400" b="1" dirty="0">
                <a:solidFill>
                  <a:srgbClr val="E07A2F"/>
                </a:solidFill>
                <a:latin typeface="Rubik Bold"/>
                <a:ea typeface="Rubik Bold"/>
                <a:cs typeface="Rubik Bold"/>
                <a:sym typeface="Rubik Bold"/>
              </a:rPr>
              <a:t>100 rows</a:t>
            </a:r>
          </a:p>
        </p:txBody>
      </p:sp>
      <p:sp>
        <p:nvSpPr>
          <p:cNvPr id="18" name="TextBox 18"/>
          <p:cNvSpPr txBox="1"/>
          <p:nvPr/>
        </p:nvSpPr>
        <p:spPr>
          <a:xfrm>
            <a:off x="4781131" y="5480685"/>
            <a:ext cx="12263866" cy="832485"/>
          </a:xfrm>
          <a:prstGeom prst="rect">
            <a:avLst/>
          </a:prstGeom>
        </p:spPr>
        <p:txBody>
          <a:bodyPr lIns="0" tIns="0" rIns="0" bIns="0" rtlCol="0" anchor="t">
            <a:spAutoFit/>
          </a:bodyPr>
          <a:lstStyle/>
          <a:p>
            <a:pPr algn="l">
              <a:lnSpc>
                <a:spcPts val="2940"/>
              </a:lnSpc>
            </a:pPr>
            <a:r>
              <a:rPr lang="en-US" sz="2100">
                <a:solidFill>
                  <a:srgbClr val="F7F6F2"/>
                </a:solidFill>
                <a:latin typeface="IBM Plex Sans"/>
                <a:ea typeface="IBM Plex Sans"/>
                <a:cs typeface="IBM Plex Sans"/>
                <a:sym typeface="IBM Plex Sans"/>
              </a:rPr>
              <a:t>One master table: each simulated case with its 4 parameters and 123 outputs (oil, gas, water × 41 dates)</a:t>
            </a:r>
          </a:p>
        </p:txBody>
      </p:sp>
      <p:sp>
        <p:nvSpPr>
          <p:cNvPr id="19" name="TextBox 19"/>
          <p:cNvSpPr txBox="1"/>
          <p:nvPr/>
        </p:nvSpPr>
        <p:spPr>
          <a:xfrm>
            <a:off x="1219200" y="6922770"/>
            <a:ext cx="15697200" cy="422910"/>
          </a:xfrm>
          <a:prstGeom prst="rect">
            <a:avLst/>
          </a:prstGeom>
        </p:spPr>
        <p:txBody>
          <a:bodyPr lIns="0" tIns="0" rIns="0" bIns="0" rtlCol="0" anchor="t">
            <a:spAutoFit/>
          </a:bodyPr>
          <a:lstStyle/>
          <a:p>
            <a:pPr algn="l">
              <a:lnSpc>
                <a:spcPts val="2729"/>
              </a:lnSpc>
            </a:pPr>
            <a:r>
              <a:rPr lang="en-US" sz="1950" b="1">
                <a:solidFill>
                  <a:srgbClr val="5A6678"/>
                </a:solidFill>
                <a:latin typeface="IBM Plex Sans Bold"/>
                <a:ea typeface="IBM Plex Sans Bold"/>
                <a:cs typeface="IBM Plex Sans Bold"/>
                <a:sym typeface="IBM Plex Sans Bold"/>
              </a:rPr>
              <a:t>Rules:</a:t>
            </a:r>
            <a:r>
              <a:rPr lang="en-US" sz="1950">
                <a:solidFill>
                  <a:srgbClr val="5A6678"/>
                </a:solidFill>
                <a:latin typeface="IBM Plex Sans"/>
                <a:ea typeface="IBM Plex Sans"/>
                <a:cs typeface="IBM Plex Sans"/>
                <a:sym typeface="IBM Plex Sans"/>
              </a:rPr>
              <a:t> real history is never a training target · test cases are used only once · the data stays confidential</a:t>
            </a:r>
          </a:p>
        </p:txBody>
      </p:sp>
      <p:sp>
        <p:nvSpPr>
          <p:cNvPr id="20" name="TextBox 20"/>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T1 · Business &amp; data</a:t>
            </a:r>
          </a:p>
        </p:txBody>
      </p:sp>
      <p:sp>
        <p:nvSpPr>
          <p:cNvPr id="21" name="TextBox 21"/>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grpSp>
        <p:nvGrpSpPr>
          <p:cNvPr id="2" name="Group 2"/>
          <p:cNvGrpSpPr/>
          <p:nvPr/>
        </p:nvGrpSpPr>
        <p:grpSpPr>
          <a:xfrm>
            <a:off x="1219200" y="2270760"/>
            <a:ext cx="9195787" cy="2971800"/>
            <a:chOff x="0" y="0"/>
            <a:chExt cx="12261050" cy="3962400"/>
          </a:xfrm>
        </p:grpSpPr>
        <p:sp>
          <p:nvSpPr>
            <p:cNvPr id="3" name="Freeform 3"/>
            <p:cNvSpPr/>
            <p:nvPr/>
          </p:nvSpPr>
          <p:spPr>
            <a:xfrm>
              <a:off x="0" y="0"/>
              <a:ext cx="12261088" cy="3962400"/>
            </a:xfrm>
            <a:custGeom>
              <a:avLst/>
              <a:gdLst/>
              <a:ahLst/>
              <a:cxnLst/>
              <a:rect l="l" t="t" r="r" b="b"/>
              <a:pathLst>
                <a:path w="12261088" h="3962400">
                  <a:moveTo>
                    <a:pt x="0" y="197485"/>
                  </a:moveTo>
                  <a:cubicBezTo>
                    <a:pt x="0" y="88392"/>
                    <a:pt x="88392" y="0"/>
                    <a:pt x="197485" y="0"/>
                  </a:cubicBezTo>
                  <a:lnTo>
                    <a:pt x="12063603" y="0"/>
                  </a:lnTo>
                  <a:cubicBezTo>
                    <a:pt x="12172697" y="0"/>
                    <a:pt x="12261088" y="88392"/>
                    <a:pt x="12261088" y="197485"/>
                  </a:cubicBezTo>
                  <a:lnTo>
                    <a:pt x="12261088" y="3764915"/>
                  </a:lnTo>
                  <a:cubicBezTo>
                    <a:pt x="12261088" y="3874008"/>
                    <a:pt x="12172697" y="3962400"/>
                    <a:pt x="12063603" y="3962400"/>
                  </a:cubicBezTo>
                  <a:lnTo>
                    <a:pt x="197485" y="3962400"/>
                  </a:lnTo>
                  <a:cubicBezTo>
                    <a:pt x="88392" y="3962400"/>
                    <a:pt x="0" y="3874008"/>
                    <a:pt x="0" y="3764915"/>
                  </a:cubicBezTo>
                  <a:close/>
                </a:path>
              </a:pathLst>
            </a:custGeom>
            <a:solidFill>
              <a:srgbClr val="FFFFFF"/>
            </a:solidFill>
            <a:ln w="9525" cap="sq">
              <a:solidFill>
                <a:srgbClr val="DCE1E8"/>
              </a:solidFill>
              <a:prstDash val="solid"/>
              <a:miter/>
            </a:ln>
          </p:spPr>
          <p:txBody>
            <a:bodyPr/>
            <a:lstStyle/>
            <a:p>
              <a:endParaRPr lang="en-MY"/>
            </a:p>
          </p:txBody>
        </p:sp>
      </p:grpSp>
      <p:grpSp>
        <p:nvGrpSpPr>
          <p:cNvPr id="4" name="Group 4"/>
          <p:cNvGrpSpPr/>
          <p:nvPr/>
        </p:nvGrpSpPr>
        <p:grpSpPr>
          <a:xfrm>
            <a:off x="10719787" y="2270760"/>
            <a:ext cx="6349013" cy="2971800"/>
            <a:chOff x="0" y="0"/>
            <a:chExt cx="8465350" cy="3962400"/>
          </a:xfrm>
        </p:grpSpPr>
        <p:sp>
          <p:nvSpPr>
            <p:cNvPr id="5" name="Freeform 5"/>
            <p:cNvSpPr/>
            <p:nvPr/>
          </p:nvSpPr>
          <p:spPr>
            <a:xfrm>
              <a:off x="0" y="0"/>
              <a:ext cx="8465312" cy="3962400"/>
            </a:xfrm>
            <a:custGeom>
              <a:avLst/>
              <a:gdLst/>
              <a:ahLst/>
              <a:cxnLst/>
              <a:rect l="l" t="t" r="r" b="b"/>
              <a:pathLst>
                <a:path w="8465312" h="3962400">
                  <a:moveTo>
                    <a:pt x="0" y="203200"/>
                  </a:moveTo>
                  <a:cubicBezTo>
                    <a:pt x="0" y="90932"/>
                    <a:pt x="90932" y="0"/>
                    <a:pt x="203200" y="0"/>
                  </a:cubicBezTo>
                  <a:lnTo>
                    <a:pt x="8262112" y="0"/>
                  </a:lnTo>
                  <a:cubicBezTo>
                    <a:pt x="8374380" y="0"/>
                    <a:pt x="8465312" y="90932"/>
                    <a:pt x="8465312" y="203200"/>
                  </a:cubicBezTo>
                  <a:lnTo>
                    <a:pt x="8465312" y="3759200"/>
                  </a:lnTo>
                  <a:cubicBezTo>
                    <a:pt x="8465312" y="3871468"/>
                    <a:pt x="8374380" y="3962400"/>
                    <a:pt x="8262112" y="3962400"/>
                  </a:cubicBezTo>
                  <a:lnTo>
                    <a:pt x="203200" y="3962400"/>
                  </a:lnTo>
                  <a:cubicBezTo>
                    <a:pt x="90932" y="3962400"/>
                    <a:pt x="0" y="3871468"/>
                    <a:pt x="0" y="3759200"/>
                  </a:cubicBezTo>
                  <a:close/>
                </a:path>
              </a:pathLst>
            </a:custGeom>
            <a:solidFill>
              <a:srgbClr val="14213D"/>
            </a:solidFill>
          </p:spPr>
          <p:txBody>
            <a:bodyPr/>
            <a:lstStyle/>
            <a:p>
              <a:endParaRPr lang="en-MY"/>
            </a:p>
          </p:txBody>
        </p:sp>
      </p:grpSp>
      <p:grpSp>
        <p:nvGrpSpPr>
          <p:cNvPr id="6" name="Group 6"/>
          <p:cNvGrpSpPr/>
          <p:nvPr/>
        </p:nvGrpSpPr>
        <p:grpSpPr>
          <a:xfrm>
            <a:off x="1219200" y="5623560"/>
            <a:ext cx="5105400" cy="1226820"/>
            <a:chOff x="0" y="0"/>
            <a:chExt cx="6807200" cy="1635760"/>
          </a:xfrm>
        </p:grpSpPr>
        <p:sp>
          <p:nvSpPr>
            <p:cNvPr id="7" name="Freeform 7"/>
            <p:cNvSpPr/>
            <p:nvPr/>
          </p:nvSpPr>
          <p:spPr>
            <a:xfrm>
              <a:off x="0" y="0"/>
              <a:ext cx="6807200" cy="1635760"/>
            </a:xfrm>
            <a:custGeom>
              <a:avLst/>
              <a:gdLst/>
              <a:ahLst/>
              <a:cxnLst/>
              <a:rect l="l" t="t" r="r" b="b"/>
              <a:pathLst>
                <a:path w="6807200" h="1635760">
                  <a:moveTo>
                    <a:pt x="0" y="203200"/>
                  </a:moveTo>
                  <a:cubicBezTo>
                    <a:pt x="0" y="90932"/>
                    <a:pt x="90932" y="0"/>
                    <a:pt x="203200" y="0"/>
                  </a:cubicBezTo>
                  <a:lnTo>
                    <a:pt x="6604000" y="0"/>
                  </a:lnTo>
                  <a:cubicBezTo>
                    <a:pt x="6716268" y="0"/>
                    <a:pt x="6807200" y="90932"/>
                    <a:pt x="6807200" y="203200"/>
                  </a:cubicBezTo>
                  <a:lnTo>
                    <a:pt x="6807200" y="1432560"/>
                  </a:lnTo>
                  <a:cubicBezTo>
                    <a:pt x="6807200" y="1544828"/>
                    <a:pt x="6716268" y="1635760"/>
                    <a:pt x="6604000" y="1635760"/>
                  </a:cubicBezTo>
                  <a:lnTo>
                    <a:pt x="203200" y="1635760"/>
                  </a:lnTo>
                  <a:cubicBezTo>
                    <a:pt x="90932" y="1635760"/>
                    <a:pt x="0" y="1544828"/>
                    <a:pt x="0" y="1432560"/>
                  </a:cubicBezTo>
                  <a:close/>
                </a:path>
              </a:pathLst>
            </a:custGeom>
            <a:solidFill>
              <a:srgbClr val="ECEFF3"/>
            </a:solidFill>
          </p:spPr>
          <p:txBody>
            <a:bodyPr/>
            <a:lstStyle/>
            <a:p>
              <a:endParaRPr lang="en-MY"/>
            </a:p>
          </p:txBody>
        </p:sp>
        <p:sp>
          <p:nvSpPr>
            <p:cNvPr id="8" name="TextBox 8"/>
            <p:cNvSpPr txBox="1"/>
            <p:nvPr/>
          </p:nvSpPr>
          <p:spPr>
            <a:xfrm>
              <a:off x="0" y="-38100"/>
              <a:ext cx="6807200" cy="1673860"/>
            </a:xfrm>
            <a:prstGeom prst="rect">
              <a:avLst/>
            </a:prstGeom>
          </p:spPr>
          <p:txBody>
            <a:bodyPr lIns="50800" tIns="50800" rIns="50800" bIns="50800" rtlCol="0" anchor="t"/>
            <a:lstStyle/>
            <a:p>
              <a:pPr algn="l">
                <a:lnSpc>
                  <a:spcPts val="2729"/>
                </a:lnSpc>
              </a:pPr>
              <a:r>
                <a:rPr lang="en-US" sz="1950" b="1">
                  <a:solidFill>
                    <a:srgbClr val="3D4A5C"/>
                  </a:solidFill>
                  <a:latin typeface="IBM Plex Sans Bold"/>
                  <a:ea typeface="IBM Plex Sans Bold"/>
                  <a:cs typeface="IBM Plex Sans Bold"/>
                  <a:sym typeface="IBM Plex Sans Bold"/>
                </a:rPr>
                <a:t>Porosity ≈ 1.36</a:t>
              </a:r>
              <a:r>
                <a:rPr lang="en-US" sz="1950">
                  <a:solidFill>
                    <a:srgbClr val="3D4A5C"/>
                  </a:solidFill>
                  <a:latin typeface="IBM Plex Sans"/>
                  <a:ea typeface="IBM Plex Sans"/>
                  <a:cs typeface="IBM Plex Sans"/>
                  <a:sym typeface="IBM Plex Sans"/>
                </a:rPr>
                <a:t> in all top cases: the history pins it down</a:t>
              </a:r>
            </a:p>
          </p:txBody>
        </p:sp>
      </p:grpSp>
      <p:grpSp>
        <p:nvGrpSpPr>
          <p:cNvPr id="9" name="Group 9"/>
          <p:cNvGrpSpPr/>
          <p:nvPr/>
        </p:nvGrpSpPr>
        <p:grpSpPr>
          <a:xfrm>
            <a:off x="6591300" y="5623560"/>
            <a:ext cx="5105400" cy="1226820"/>
            <a:chOff x="0" y="0"/>
            <a:chExt cx="6807200" cy="1635760"/>
          </a:xfrm>
        </p:grpSpPr>
        <p:sp>
          <p:nvSpPr>
            <p:cNvPr id="10" name="Freeform 10"/>
            <p:cNvSpPr/>
            <p:nvPr/>
          </p:nvSpPr>
          <p:spPr>
            <a:xfrm>
              <a:off x="0" y="0"/>
              <a:ext cx="6807200" cy="1635760"/>
            </a:xfrm>
            <a:custGeom>
              <a:avLst/>
              <a:gdLst/>
              <a:ahLst/>
              <a:cxnLst/>
              <a:rect l="l" t="t" r="r" b="b"/>
              <a:pathLst>
                <a:path w="6807200" h="1635760">
                  <a:moveTo>
                    <a:pt x="0" y="203200"/>
                  </a:moveTo>
                  <a:cubicBezTo>
                    <a:pt x="0" y="90932"/>
                    <a:pt x="90932" y="0"/>
                    <a:pt x="203200" y="0"/>
                  </a:cubicBezTo>
                  <a:lnTo>
                    <a:pt x="6604000" y="0"/>
                  </a:lnTo>
                  <a:cubicBezTo>
                    <a:pt x="6716268" y="0"/>
                    <a:pt x="6807200" y="90932"/>
                    <a:pt x="6807200" y="203200"/>
                  </a:cubicBezTo>
                  <a:lnTo>
                    <a:pt x="6807200" y="1432560"/>
                  </a:lnTo>
                  <a:cubicBezTo>
                    <a:pt x="6807200" y="1544828"/>
                    <a:pt x="6716268" y="1635760"/>
                    <a:pt x="6604000" y="1635760"/>
                  </a:cubicBezTo>
                  <a:lnTo>
                    <a:pt x="203200" y="1635760"/>
                  </a:lnTo>
                  <a:cubicBezTo>
                    <a:pt x="90932" y="1635760"/>
                    <a:pt x="0" y="1544828"/>
                    <a:pt x="0" y="1432560"/>
                  </a:cubicBezTo>
                  <a:close/>
                </a:path>
              </a:pathLst>
            </a:custGeom>
            <a:solidFill>
              <a:srgbClr val="ECEFF3"/>
            </a:solidFill>
          </p:spPr>
          <p:txBody>
            <a:bodyPr/>
            <a:lstStyle/>
            <a:p>
              <a:endParaRPr lang="en-MY"/>
            </a:p>
          </p:txBody>
        </p:sp>
        <p:sp>
          <p:nvSpPr>
            <p:cNvPr id="11" name="TextBox 11"/>
            <p:cNvSpPr txBox="1"/>
            <p:nvPr/>
          </p:nvSpPr>
          <p:spPr>
            <a:xfrm>
              <a:off x="0" y="-38100"/>
              <a:ext cx="6807200" cy="1673860"/>
            </a:xfrm>
            <a:prstGeom prst="rect">
              <a:avLst/>
            </a:prstGeom>
          </p:spPr>
          <p:txBody>
            <a:bodyPr lIns="50800" tIns="50800" rIns="50800" bIns="50800" rtlCol="0" anchor="t"/>
            <a:lstStyle/>
            <a:p>
              <a:pPr algn="l">
                <a:lnSpc>
                  <a:spcPts val="2729"/>
                </a:lnSpc>
              </a:pPr>
              <a:r>
                <a:rPr lang="en-US" sz="1950" b="1">
                  <a:solidFill>
                    <a:srgbClr val="3D4A5C"/>
                  </a:solidFill>
                  <a:latin typeface="IBM Plex Sans Bold"/>
                  <a:ea typeface="IBM Plex Sans Bold"/>
                  <a:cs typeface="IBM Plex Sans Bold"/>
                  <a:sym typeface="IBM Plex Sans Bold"/>
                </a:rPr>
                <a:t>The other 3 vary widely:</a:t>
              </a:r>
              <a:r>
                <a:rPr lang="en-US" sz="1950">
                  <a:solidFill>
                    <a:srgbClr val="3D4A5C"/>
                  </a:solidFill>
                  <a:latin typeface="IBM Plex Sans"/>
                  <a:ea typeface="IBM Plex Sans"/>
                  <a:cs typeface="IBM Plex Sans"/>
                  <a:sym typeface="IBM Plex Sans"/>
                </a:rPr>
                <a:t> different reservoirs fit equally well</a:t>
              </a:r>
            </a:p>
          </p:txBody>
        </p:sp>
      </p:grpSp>
      <p:grpSp>
        <p:nvGrpSpPr>
          <p:cNvPr id="12" name="Group 12"/>
          <p:cNvGrpSpPr/>
          <p:nvPr/>
        </p:nvGrpSpPr>
        <p:grpSpPr>
          <a:xfrm>
            <a:off x="11963400" y="5623560"/>
            <a:ext cx="5105400" cy="1226820"/>
            <a:chOff x="0" y="0"/>
            <a:chExt cx="6807200" cy="1635760"/>
          </a:xfrm>
        </p:grpSpPr>
        <p:sp>
          <p:nvSpPr>
            <p:cNvPr id="13" name="Freeform 13"/>
            <p:cNvSpPr/>
            <p:nvPr/>
          </p:nvSpPr>
          <p:spPr>
            <a:xfrm>
              <a:off x="0" y="0"/>
              <a:ext cx="6807200" cy="1635760"/>
            </a:xfrm>
            <a:custGeom>
              <a:avLst/>
              <a:gdLst/>
              <a:ahLst/>
              <a:cxnLst/>
              <a:rect l="l" t="t" r="r" b="b"/>
              <a:pathLst>
                <a:path w="6807200" h="1635760">
                  <a:moveTo>
                    <a:pt x="0" y="203200"/>
                  </a:moveTo>
                  <a:cubicBezTo>
                    <a:pt x="0" y="90932"/>
                    <a:pt x="90932" y="0"/>
                    <a:pt x="203200" y="0"/>
                  </a:cubicBezTo>
                  <a:lnTo>
                    <a:pt x="6604000" y="0"/>
                  </a:lnTo>
                  <a:cubicBezTo>
                    <a:pt x="6716268" y="0"/>
                    <a:pt x="6807200" y="90932"/>
                    <a:pt x="6807200" y="203200"/>
                  </a:cubicBezTo>
                  <a:lnTo>
                    <a:pt x="6807200" y="1432560"/>
                  </a:lnTo>
                  <a:cubicBezTo>
                    <a:pt x="6807200" y="1544828"/>
                    <a:pt x="6716268" y="1635760"/>
                    <a:pt x="6604000" y="1635760"/>
                  </a:cubicBezTo>
                  <a:lnTo>
                    <a:pt x="203200" y="1635760"/>
                  </a:lnTo>
                  <a:cubicBezTo>
                    <a:pt x="90932" y="1635760"/>
                    <a:pt x="0" y="1544828"/>
                    <a:pt x="0" y="1432560"/>
                  </a:cubicBezTo>
                  <a:close/>
                </a:path>
              </a:pathLst>
            </a:custGeom>
            <a:solidFill>
              <a:srgbClr val="ECEFF3"/>
            </a:solidFill>
          </p:spPr>
          <p:txBody>
            <a:bodyPr/>
            <a:lstStyle/>
            <a:p>
              <a:endParaRPr lang="en-MY"/>
            </a:p>
          </p:txBody>
        </p:sp>
        <p:sp>
          <p:nvSpPr>
            <p:cNvPr id="14" name="TextBox 14"/>
            <p:cNvSpPr txBox="1"/>
            <p:nvPr/>
          </p:nvSpPr>
          <p:spPr>
            <a:xfrm>
              <a:off x="0" y="-38100"/>
              <a:ext cx="6807200" cy="1673860"/>
            </a:xfrm>
            <a:prstGeom prst="rect">
              <a:avLst/>
            </a:prstGeom>
          </p:spPr>
          <p:txBody>
            <a:bodyPr lIns="50800" tIns="50800" rIns="50800" bIns="50800" rtlCol="0" anchor="t"/>
            <a:lstStyle/>
            <a:p>
              <a:pPr algn="l">
                <a:lnSpc>
                  <a:spcPts val="2729"/>
                </a:lnSpc>
              </a:pPr>
              <a:r>
                <a:rPr lang="en-US" sz="1950" b="1">
                  <a:solidFill>
                    <a:srgbClr val="3D4A5C"/>
                  </a:solidFill>
                  <a:latin typeface="IBM Plex Sans Bold"/>
                  <a:ea typeface="IBM Plex Sans Bold"/>
                  <a:cs typeface="IBM Plex Sans Bold"/>
                  <a:sym typeface="IBM Plex Sans Bold"/>
                </a:rPr>
                <a:t>All top cases miss 2007–08:</a:t>
              </a:r>
              <a:r>
                <a:rPr lang="en-US" sz="1950">
                  <a:solidFill>
                    <a:srgbClr val="3D4A5C"/>
                  </a:solidFill>
                  <a:latin typeface="IBM Plex Sans"/>
                  <a:ea typeface="IBM Plex Sans"/>
                  <a:cs typeface="IBM Plex Sans"/>
                  <a:sym typeface="IBM Plex Sans"/>
                </a:rPr>
                <a:t> too much oil and gas, too little water</a:t>
              </a:r>
            </a:p>
          </p:txBody>
        </p:sp>
      </p:grpSp>
      <p:sp>
        <p:nvSpPr>
          <p:cNvPr id="15" name="TextBox 15"/>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One shared score, and the baseline to beat</a:t>
            </a:r>
          </a:p>
        </p:txBody>
      </p:sp>
      <p:sp>
        <p:nvSpPr>
          <p:cNvPr id="16" name="TextBox 16"/>
          <p:cNvSpPr txBox="1"/>
          <p:nvPr/>
        </p:nvSpPr>
        <p:spPr>
          <a:xfrm>
            <a:off x="1569720" y="2611755"/>
            <a:ext cx="8749598" cy="504825"/>
          </a:xfrm>
          <a:prstGeom prst="rect">
            <a:avLst/>
          </a:prstGeom>
        </p:spPr>
        <p:txBody>
          <a:bodyPr lIns="0" tIns="0" rIns="0" bIns="0" rtlCol="0" anchor="t">
            <a:spAutoFit/>
          </a:bodyPr>
          <a:lstStyle/>
          <a:p>
            <a:pPr algn="l">
              <a:lnSpc>
                <a:spcPts val="3600"/>
              </a:lnSpc>
            </a:pPr>
            <a:r>
              <a:rPr lang="en-US" sz="3000" b="1">
                <a:solidFill>
                  <a:srgbClr val="14213D"/>
                </a:solidFill>
                <a:latin typeface="Rubik Bold"/>
                <a:ea typeface="Rubik Bold"/>
                <a:cs typeface="Rubik Bold"/>
                <a:sym typeface="Rubik Bold"/>
              </a:rPr>
              <a:t>How the score works</a:t>
            </a:r>
          </a:p>
        </p:txBody>
      </p:sp>
      <p:sp>
        <p:nvSpPr>
          <p:cNvPr id="17" name="TextBox 17"/>
          <p:cNvSpPr txBox="1"/>
          <p:nvPr/>
        </p:nvSpPr>
        <p:spPr>
          <a:xfrm>
            <a:off x="1687068" y="3173730"/>
            <a:ext cx="8620820" cy="1642110"/>
          </a:xfrm>
          <a:prstGeom prst="rect">
            <a:avLst/>
          </a:prstGeom>
        </p:spPr>
        <p:txBody>
          <a:bodyPr lIns="0" tIns="0" rIns="0" bIns="0" rtlCol="0" anchor="t">
            <a:spAutoFit/>
          </a:bodyPr>
          <a:lstStyle/>
          <a:p>
            <a:pPr marL="380048" lvl="1" indent="-190024" algn="l">
              <a:lnSpc>
                <a:spcPts val="3045"/>
              </a:lnSpc>
              <a:buFont typeface="Arial"/>
              <a:buChar char="•"/>
            </a:pPr>
            <a:r>
              <a:rPr lang="en-US" sz="2100">
                <a:solidFill>
                  <a:srgbClr val="3D4A5C"/>
                </a:solidFill>
                <a:latin typeface="IBM Plex Sans"/>
                <a:ea typeface="IBM Plex Sans"/>
                <a:cs typeface="IBM Plex Sans"/>
                <a:sym typeface="IBM Plex Sans"/>
              </a:rPr>
              <a:t>Gap between a curve and the real field, as a share of the field’s maximum</a:t>
            </a:r>
          </a:p>
          <a:p>
            <a:pPr marL="380048" lvl="1" indent="-190024" algn="l">
              <a:lnSpc>
                <a:spcPts val="3045"/>
              </a:lnSpc>
              <a:buFont typeface="Arial"/>
              <a:buChar char="•"/>
            </a:pPr>
            <a:r>
              <a:rPr lang="en-US" sz="2100">
                <a:solidFill>
                  <a:srgbClr val="3D4A5C"/>
                </a:solidFill>
                <a:latin typeface="IBM Plex Sans"/>
                <a:ea typeface="IBM Plex Sans"/>
                <a:cs typeface="IBM Plex Sans"/>
                <a:sym typeface="IBM Plex Sans"/>
              </a:rPr>
              <a:t>Oil, gas and water count one third each</a:t>
            </a:r>
          </a:p>
          <a:p>
            <a:pPr marL="380048" lvl="1" indent="-190024" algn="l">
              <a:lnSpc>
                <a:spcPts val="3045"/>
              </a:lnSpc>
              <a:buFont typeface="Arial"/>
              <a:buChar char="•"/>
            </a:pPr>
            <a:r>
              <a:rPr lang="en-US" sz="2100">
                <a:solidFill>
                  <a:srgbClr val="3D4A5C"/>
                </a:solidFill>
                <a:latin typeface="IBM Plex Sans"/>
                <a:ea typeface="IBM Plex Sans"/>
                <a:cs typeface="IBM Plex Sans"/>
                <a:sym typeface="IBM Plex Sans"/>
              </a:rPr>
              <a:t>0 = perfect; first 3 quarters skipped (no production yet)</a:t>
            </a:r>
          </a:p>
        </p:txBody>
      </p:sp>
      <p:sp>
        <p:nvSpPr>
          <p:cNvPr id="18" name="TextBox 18"/>
          <p:cNvSpPr txBox="1"/>
          <p:nvPr/>
        </p:nvSpPr>
        <p:spPr>
          <a:xfrm>
            <a:off x="11062687" y="2575560"/>
            <a:ext cx="5833100" cy="396240"/>
          </a:xfrm>
          <a:prstGeom prst="rect">
            <a:avLst/>
          </a:prstGeom>
        </p:spPr>
        <p:txBody>
          <a:bodyPr lIns="0" tIns="0" rIns="0" bIns="0" rtlCol="0" anchor="t">
            <a:spAutoFit/>
          </a:bodyPr>
          <a:lstStyle/>
          <a:p>
            <a:pPr algn="l">
              <a:lnSpc>
                <a:spcPts val="2520"/>
              </a:lnSpc>
            </a:pPr>
            <a:r>
              <a:rPr lang="en-US" sz="1800" b="1" spc="149">
                <a:solidFill>
                  <a:srgbClr val="E07A2F"/>
                </a:solidFill>
                <a:latin typeface="IBM Plex Sans Bold"/>
                <a:ea typeface="IBM Plex Sans Bold"/>
                <a:cs typeface="IBM Plex Sans Bold"/>
                <a:sym typeface="IBM Plex Sans Bold"/>
              </a:rPr>
              <a:t>BASELINE TO BEAT</a:t>
            </a:r>
          </a:p>
        </p:txBody>
      </p:sp>
      <p:sp>
        <p:nvSpPr>
          <p:cNvPr id="19" name="TextBox 19"/>
          <p:cNvSpPr txBox="1"/>
          <p:nvPr/>
        </p:nvSpPr>
        <p:spPr>
          <a:xfrm>
            <a:off x="11062687" y="3181350"/>
            <a:ext cx="5833100" cy="895350"/>
          </a:xfrm>
          <a:prstGeom prst="rect">
            <a:avLst/>
          </a:prstGeom>
        </p:spPr>
        <p:txBody>
          <a:bodyPr lIns="0" tIns="0" rIns="0" bIns="0" rtlCol="0" anchor="t">
            <a:spAutoFit/>
          </a:bodyPr>
          <a:lstStyle/>
          <a:p>
            <a:pPr algn="l">
              <a:lnSpc>
                <a:spcPts val="7800"/>
              </a:lnSpc>
            </a:pPr>
            <a:r>
              <a:rPr lang="en-US" sz="7800" b="1">
                <a:solidFill>
                  <a:srgbClr val="F7F6F2"/>
                </a:solidFill>
                <a:latin typeface="Rubik Bold"/>
                <a:ea typeface="Rubik Bold"/>
                <a:cs typeface="Rubik Bold"/>
                <a:sym typeface="Rubik Bold"/>
              </a:rPr>
              <a:t>0.0036</a:t>
            </a:r>
          </a:p>
        </p:txBody>
      </p:sp>
      <p:sp>
        <p:nvSpPr>
          <p:cNvPr id="20" name="TextBox 20"/>
          <p:cNvSpPr txBox="1"/>
          <p:nvPr/>
        </p:nvSpPr>
        <p:spPr>
          <a:xfrm>
            <a:off x="11062687" y="4105275"/>
            <a:ext cx="5833100" cy="832485"/>
          </a:xfrm>
          <a:prstGeom prst="rect">
            <a:avLst/>
          </a:prstGeom>
        </p:spPr>
        <p:txBody>
          <a:bodyPr lIns="0" tIns="0" rIns="0" bIns="0" rtlCol="0" anchor="t">
            <a:spAutoFit/>
          </a:bodyPr>
          <a:lstStyle/>
          <a:p>
            <a:pPr algn="l">
              <a:lnSpc>
                <a:spcPts val="2940"/>
              </a:lnSpc>
            </a:pPr>
            <a:r>
              <a:rPr lang="en-US" sz="2100">
                <a:solidFill>
                  <a:srgbClr val="C9D3E0"/>
                </a:solidFill>
                <a:latin typeface="IBM Plex Sans"/>
                <a:ea typeface="IBM Plex Sans"/>
                <a:cs typeface="IBM Plex Sans"/>
                <a:sym typeface="IBM Plex Sans"/>
              </a:rPr>
              <a:t>Case 6, best of the 100 existing cases: off by about 0.4% of the field maximum</a:t>
            </a:r>
          </a:p>
        </p:txBody>
      </p:sp>
      <p:sp>
        <p:nvSpPr>
          <p:cNvPr id="21" name="TextBox 21"/>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T1 · Business &amp; data</a:t>
            </a:r>
          </a:p>
        </p:txBody>
      </p:sp>
      <p:sp>
        <p:nvSpPr>
          <p:cNvPr id="22" name="TextBox 22"/>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406869" cy="10353864"/>
          </a:xfrm>
          <a:custGeom>
            <a:avLst/>
            <a:gdLst/>
            <a:ahLst/>
            <a:cxnLst/>
            <a:rect l="l" t="t" r="r" b="b"/>
            <a:pathLst>
              <a:path w="18406869" h="10353864">
                <a:moveTo>
                  <a:pt x="0" y="0"/>
                </a:moveTo>
                <a:lnTo>
                  <a:pt x="18406869" y="0"/>
                </a:lnTo>
                <a:lnTo>
                  <a:pt x="18406869" y="10353864"/>
                </a:lnTo>
                <a:lnTo>
                  <a:pt x="0" y="10353864"/>
                </a:lnTo>
                <a:lnTo>
                  <a:pt x="0" y="0"/>
                </a:lnTo>
                <a:close/>
              </a:path>
            </a:pathLst>
          </a:custGeom>
          <a:blipFill>
            <a:blip r:embed="rId2"/>
            <a:stretch>
              <a:fillRect/>
            </a:stretch>
          </a:blipFill>
        </p:spPr>
        <p:txBody>
          <a:bodyPr/>
          <a:lstStyle/>
          <a:p>
            <a:endParaRPr lang="en-MY"/>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413" y="-18464"/>
            <a:ext cx="18320825" cy="10305464"/>
          </a:xfrm>
          <a:custGeom>
            <a:avLst/>
            <a:gdLst/>
            <a:ahLst/>
            <a:cxnLst/>
            <a:rect l="l" t="t" r="r" b="b"/>
            <a:pathLst>
              <a:path w="18320825" h="10305464">
                <a:moveTo>
                  <a:pt x="0" y="0"/>
                </a:moveTo>
                <a:lnTo>
                  <a:pt x="18320826" y="0"/>
                </a:lnTo>
                <a:lnTo>
                  <a:pt x="18320826" y="10305464"/>
                </a:lnTo>
                <a:lnTo>
                  <a:pt x="0" y="10305464"/>
                </a:lnTo>
                <a:lnTo>
                  <a:pt x="0" y="0"/>
                </a:lnTo>
                <a:close/>
              </a:path>
            </a:pathLst>
          </a:custGeom>
          <a:blipFill>
            <a:blip r:embed="rId2"/>
            <a:stretch>
              <a:fillRect/>
            </a:stretch>
          </a:blipFill>
        </p:spPr>
        <p:txBody>
          <a:bodyPr/>
          <a:lstStyle/>
          <a:p>
            <a:endParaRPr lang="en-MY"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525" y="95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MY"/>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2"/>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History match: a better group of 10</a:t>
            </a:r>
          </a:p>
        </p:txBody>
      </p:sp>
      <p:grpSp>
        <p:nvGrpSpPr>
          <p:cNvPr id="3" name="Group 3"/>
          <p:cNvGrpSpPr/>
          <p:nvPr/>
        </p:nvGrpSpPr>
        <p:grpSpPr>
          <a:xfrm>
            <a:off x="1219200" y="2346960"/>
            <a:ext cx="5085045" cy="2910840"/>
            <a:chOff x="0" y="0"/>
            <a:chExt cx="6780060" cy="3881120"/>
          </a:xfrm>
        </p:grpSpPr>
        <p:sp>
          <p:nvSpPr>
            <p:cNvPr id="4" name="Freeform 4"/>
            <p:cNvSpPr/>
            <p:nvPr/>
          </p:nvSpPr>
          <p:spPr>
            <a:xfrm>
              <a:off x="0" y="0"/>
              <a:ext cx="6780022" cy="3881120"/>
            </a:xfrm>
            <a:custGeom>
              <a:avLst/>
              <a:gdLst/>
              <a:ahLst/>
              <a:cxnLst/>
              <a:rect l="l" t="t" r="r" b="b"/>
              <a:pathLst>
                <a:path w="6780022" h="3881120">
                  <a:moveTo>
                    <a:pt x="0" y="197485"/>
                  </a:moveTo>
                  <a:cubicBezTo>
                    <a:pt x="0" y="88392"/>
                    <a:pt x="88392" y="0"/>
                    <a:pt x="197485" y="0"/>
                  </a:cubicBezTo>
                  <a:lnTo>
                    <a:pt x="6582537" y="0"/>
                  </a:lnTo>
                  <a:cubicBezTo>
                    <a:pt x="6691630" y="0"/>
                    <a:pt x="6780022" y="88392"/>
                    <a:pt x="6780022" y="197485"/>
                  </a:cubicBezTo>
                  <a:lnTo>
                    <a:pt x="6780022" y="3683635"/>
                  </a:lnTo>
                  <a:cubicBezTo>
                    <a:pt x="6780022" y="3792728"/>
                    <a:pt x="6691630" y="3881120"/>
                    <a:pt x="6582537" y="3881120"/>
                  </a:cubicBezTo>
                  <a:lnTo>
                    <a:pt x="197485" y="3881120"/>
                  </a:lnTo>
                  <a:cubicBezTo>
                    <a:pt x="88392" y="3881120"/>
                    <a:pt x="0" y="3792728"/>
                    <a:pt x="0" y="3683635"/>
                  </a:cubicBezTo>
                  <a:close/>
                </a:path>
              </a:pathLst>
            </a:custGeom>
            <a:solidFill>
              <a:srgbClr val="FFFFFF"/>
            </a:solidFill>
            <a:ln w="9525" cap="sq">
              <a:solidFill>
                <a:srgbClr val="DCE1E8"/>
              </a:solidFill>
              <a:prstDash val="solid"/>
              <a:miter/>
            </a:ln>
          </p:spPr>
          <p:txBody>
            <a:bodyPr/>
            <a:lstStyle/>
            <a:p>
              <a:endParaRPr lang="en-MY"/>
            </a:p>
          </p:txBody>
        </p:sp>
      </p:grpSp>
      <p:sp>
        <p:nvSpPr>
          <p:cNvPr id="5" name="TextBox 5"/>
          <p:cNvSpPr txBox="1"/>
          <p:nvPr/>
        </p:nvSpPr>
        <p:spPr>
          <a:xfrm>
            <a:off x="1607820" y="2868930"/>
            <a:ext cx="4437031" cy="819150"/>
          </a:xfrm>
          <a:prstGeom prst="rect">
            <a:avLst/>
          </a:prstGeom>
        </p:spPr>
        <p:txBody>
          <a:bodyPr lIns="0" tIns="0" rIns="0" bIns="0" rtlCol="0" anchor="t">
            <a:spAutoFit/>
          </a:bodyPr>
          <a:lstStyle/>
          <a:p>
            <a:pPr algn="l">
              <a:lnSpc>
                <a:spcPts val="7200"/>
              </a:lnSpc>
            </a:pPr>
            <a:r>
              <a:rPr lang="en-US" sz="7200" b="1">
                <a:solidFill>
                  <a:srgbClr val="14213D"/>
                </a:solidFill>
                <a:latin typeface="Rubik Bold"/>
                <a:ea typeface="Rubik Bold"/>
                <a:cs typeface="Rubik Bold"/>
                <a:sym typeface="Rubik Bold"/>
              </a:rPr>
              <a:t>50,000</a:t>
            </a:r>
          </a:p>
        </p:txBody>
      </p:sp>
      <p:sp>
        <p:nvSpPr>
          <p:cNvPr id="6" name="TextBox 6"/>
          <p:cNvSpPr txBox="1"/>
          <p:nvPr/>
        </p:nvSpPr>
        <p:spPr>
          <a:xfrm>
            <a:off x="1607820" y="3716655"/>
            <a:ext cx="4437031" cy="83248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parameter sets tested with the proxy</a:t>
            </a:r>
          </a:p>
        </p:txBody>
      </p:sp>
      <p:grpSp>
        <p:nvGrpSpPr>
          <p:cNvPr id="7" name="Group 7"/>
          <p:cNvGrpSpPr/>
          <p:nvPr/>
        </p:nvGrpSpPr>
        <p:grpSpPr>
          <a:xfrm>
            <a:off x="6609045" y="2346960"/>
            <a:ext cx="5085102" cy="2910840"/>
            <a:chOff x="0" y="0"/>
            <a:chExt cx="6780136" cy="3881120"/>
          </a:xfrm>
        </p:grpSpPr>
        <p:sp>
          <p:nvSpPr>
            <p:cNvPr id="8" name="Freeform 8"/>
            <p:cNvSpPr/>
            <p:nvPr/>
          </p:nvSpPr>
          <p:spPr>
            <a:xfrm>
              <a:off x="0" y="0"/>
              <a:ext cx="6780149" cy="3881120"/>
            </a:xfrm>
            <a:custGeom>
              <a:avLst/>
              <a:gdLst/>
              <a:ahLst/>
              <a:cxnLst/>
              <a:rect l="l" t="t" r="r" b="b"/>
              <a:pathLst>
                <a:path w="6780149" h="3881120">
                  <a:moveTo>
                    <a:pt x="0" y="197485"/>
                  </a:moveTo>
                  <a:cubicBezTo>
                    <a:pt x="0" y="88392"/>
                    <a:pt x="88392" y="0"/>
                    <a:pt x="197485" y="0"/>
                  </a:cubicBezTo>
                  <a:lnTo>
                    <a:pt x="6582664" y="0"/>
                  </a:lnTo>
                  <a:cubicBezTo>
                    <a:pt x="6691757" y="0"/>
                    <a:pt x="6780149" y="88392"/>
                    <a:pt x="6780149" y="197485"/>
                  </a:cubicBezTo>
                  <a:lnTo>
                    <a:pt x="6780149" y="3683635"/>
                  </a:lnTo>
                  <a:cubicBezTo>
                    <a:pt x="6780149" y="3792728"/>
                    <a:pt x="6691757" y="3881120"/>
                    <a:pt x="6582664" y="3881120"/>
                  </a:cubicBezTo>
                  <a:lnTo>
                    <a:pt x="197485" y="3881120"/>
                  </a:lnTo>
                  <a:cubicBezTo>
                    <a:pt x="88392" y="3881120"/>
                    <a:pt x="0" y="3792728"/>
                    <a:pt x="0" y="3683635"/>
                  </a:cubicBezTo>
                  <a:close/>
                </a:path>
              </a:pathLst>
            </a:custGeom>
            <a:solidFill>
              <a:srgbClr val="FFFFFF"/>
            </a:solidFill>
            <a:ln w="9525" cap="sq">
              <a:solidFill>
                <a:srgbClr val="DCE1E8"/>
              </a:solidFill>
              <a:prstDash val="solid"/>
              <a:miter/>
            </a:ln>
          </p:spPr>
          <p:txBody>
            <a:bodyPr/>
            <a:lstStyle/>
            <a:p>
              <a:endParaRPr lang="en-MY"/>
            </a:p>
          </p:txBody>
        </p:sp>
      </p:grpSp>
      <p:sp>
        <p:nvSpPr>
          <p:cNvPr id="9" name="TextBox 9"/>
          <p:cNvSpPr txBox="1"/>
          <p:nvPr/>
        </p:nvSpPr>
        <p:spPr>
          <a:xfrm>
            <a:off x="6997665" y="2868930"/>
            <a:ext cx="4437097" cy="819150"/>
          </a:xfrm>
          <a:prstGeom prst="rect">
            <a:avLst/>
          </a:prstGeom>
        </p:spPr>
        <p:txBody>
          <a:bodyPr lIns="0" tIns="0" rIns="0" bIns="0" rtlCol="0" anchor="t">
            <a:spAutoFit/>
          </a:bodyPr>
          <a:lstStyle/>
          <a:p>
            <a:pPr algn="l">
              <a:lnSpc>
                <a:spcPts val="7200"/>
              </a:lnSpc>
            </a:pPr>
            <a:r>
              <a:rPr lang="en-US" sz="7200" b="1">
                <a:solidFill>
                  <a:srgbClr val="14213D"/>
                </a:solidFill>
                <a:latin typeface="Rubik Bold"/>
                <a:ea typeface="Rubik Bold"/>
                <a:cs typeface="Rubik Bold"/>
                <a:sym typeface="Rubik Bold"/>
              </a:rPr>
              <a:t>10</a:t>
            </a:r>
          </a:p>
        </p:txBody>
      </p:sp>
      <p:sp>
        <p:nvSpPr>
          <p:cNvPr id="10" name="TextBox 10"/>
          <p:cNvSpPr txBox="1"/>
          <p:nvPr/>
        </p:nvSpPr>
        <p:spPr>
          <a:xfrm>
            <a:off x="6997665" y="3716655"/>
            <a:ext cx="4437097" cy="83248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kept: they fit history well and differ from each other</a:t>
            </a:r>
          </a:p>
        </p:txBody>
      </p:sp>
      <p:grpSp>
        <p:nvGrpSpPr>
          <p:cNvPr id="11" name="Group 11"/>
          <p:cNvGrpSpPr/>
          <p:nvPr/>
        </p:nvGrpSpPr>
        <p:grpSpPr>
          <a:xfrm>
            <a:off x="11998938" y="2346960"/>
            <a:ext cx="5069862" cy="2910840"/>
            <a:chOff x="0" y="0"/>
            <a:chExt cx="6759816" cy="3881120"/>
          </a:xfrm>
        </p:grpSpPr>
        <p:sp>
          <p:nvSpPr>
            <p:cNvPr id="12" name="Freeform 12"/>
            <p:cNvSpPr/>
            <p:nvPr/>
          </p:nvSpPr>
          <p:spPr>
            <a:xfrm>
              <a:off x="0" y="0"/>
              <a:ext cx="6759829" cy="3881120"/>
            </a:xfrm>
            <a:custGeom>
              <a:avLst/>
              <a:gdLst/>
              <a:ahLst/>
              <a:cxnLst/>
              <a:rect l="l" t="t" r="r" b="b"/>
              <a:pathLst>
                <a:path w="6759829" h="3881120">
                  <a:moveTo>
                    <a:pt x="0" y="203200"/>
                  </a:moveTo>
                  <a:cubicBezTo>
                    <a:pt x="0" y="90932"/>
                    <a:pt x="90932" y="0"/>
                    <a:pt x="203200" y="0"/>
                  </a:cubicBezTo>
                  <a:lnTo>
                    <a:pt x="6556629" y="0"/>
                  </a:lnTo>
                  <a:cubicBezTo>
                    <a:pt x="6668898" y="0"/>
                    <a:pt x="6759829" y="90932"/>
                    <a:pt x="6759829" y="203200"/>
                  </a:cubicBezTo>
                  <a:lnTo>
                    <a:pt x="6759829" y="3677920"/>
                  </a:lnTo>
                  <a:cubicBezTo>
                    <a:pt x="6759829" y="3790188"/>
                    <a:pt x="6668898" y="3881120"/>
                    <a:pt x="6556629" y="3881120"/>
                  </a:cubicBezTo>
                  <a:lnTo>
                    <a:pt x="203200" y="3881120"/>
                  </a:lnTo>
                  <a:cubicBezTo>
                    <a:pt x="90932" y="3881120"/>
                    <a:pt x="0" y="3790188"/>
                    <a:pt x="0" y="3677920"/>
                  </a:cubicBezTo>
                  <a:close/>
                </a:path>
              </a:pathLst>
            </a:custGeom>
            <a:solidFill>
              <a:srgbClr val="14213D"/>
            </a:solidFill>
          </p:spPr>
          <p:txBody>
            <a:bodyPr/>
            <a:lstStyle/>
            <a:p>
              <a:endParaRPr lang="en-MY"/>
            </a:p>
          </p:txBody>
        </p:sp>
      </p:grpSp>
      <p:sp>
        <p:nvSpPr>
          <p:cNvPr id="13" name="TextBox 13"/>
          <p:cNvSpPr txBox="1"/>
          <p:nvPr/>
        </p:nvSpPr>
        <p:spPr>
          <a:xfrm>
            <a:off x="12379938" y="2861310"/>
            <a:ext cx="4437097" cy="819150"/>
          </a:xfrm>
          <a:prstGeom prst="rect">
            <a:avLst/>
          </a:prstGeom>
        </p:spPr>
        <p:txBody>
          <a:bodyPr lIns="0" tIns="0" rIns="0" bIns="0" rtlCol="0" anchor="t">
            <a:spAutoFit/>
          </a:bodyPr>
          <a:lstStyle/>
          <a:p>
            <a:pPr algn="l">
              <a:lnSpc>
                <a:spcPts val="7200"/>
              </a:lnSpc>
            </a:pPr>
            <a:r>
              <a:rPr lang="en-US" sz="7200" b="1">
                <a:solidFill>
                  <a:srgbClr val="E07A2F"/>
                </a:solidFill>
                <a:latin typeface="Rubik Bold"/>
                <a:ea typeface="Rubik Bold"/>
                <a:cs typeface="Rubik Bold"/>
                <a:sym typeface="Rubik Bold"/>
              </a:rPr>
              <a:t>−19%</a:t>
            </a:r>
          </a:p>
        </p:txBody>
      </p:sp>
      <p:sp>
        <p:nvSpPr>
          <p:cNvPr id="14" name="TextBox 14"/>
          <p:cNvSpPr txBox="1"/>
          <p:nvPr/>
        </p:nvSpPr>
        <p:spPr>
          <a:xfrm>
            <a:off x="12379938" y="3709035"/>
            <a:ext cx="4437097" cy="1205865"/>
          </a:xfrm>
          <a:prstGeom prst="rect">
            <a:avLst/>
          </a:prstGeom>
        </p:spPr>
        <p:txBody>
          <a:bodyPr lIns="0" tIns="0" rIns="0" bIns="0" rtlCol="0" anchor="t">
            <a:spAutoFit/>
          </a:bodyPr>
          <a:lstStyle/>
          <a:p>
            <a:pPr algn="l">
              <a:lnSpc>
                <a:spcPts val="2940"/>
              </a:lnSpc>
            </a:pPr>
            <a:r>
              <a:rPr lang="en-US" sz="2100">
                <a:solidFill>
                  <a:srgbClr val="F7F6F2"/>
                </a:solidFill>
                <a:latin typeface="IBM Plex Sans"/>
                <a:ea typeface="IBM Plex Sans"/>
                <a:cs typeface="IBM Plex Sans"/>
                <a:sym typeface="IBM Plex Sans"/>
              </a:rPr>
              <a:t>average score vs the organisers’ top 10 (0.003655 vs 0.004528; lower is better)</a:t>
            </a:r>
          </a:p>
        </p:txBody>
      </p:sp>
      <p:sp>
        <p:nvSpPr>
          <p:cNvPr id="15" name="TextBox 15"/>
          <p:cNvSpPr txBox="1"/>
          <p:nvPr/>
        </p:nvSpPr>
        <p:spPr>
          <a:xfrm>
            <a:off x="1219200" y="5667375"/>
            <a:ext cx="15697200" cy="459105"/>
          </a:xfrm>
          <a:prstGeom prst="rect">
            <a:avLst/>
          </a:prstGeom>
        </p:spPr>
        <p:txBody>
          <a:bodyPr lIns="0" tIns="0" rIns="0" bIns="0" rtlCol="0" anchor="t">
            <a:spAutoFit/>
          </a:bodyPr>
          <a:lstStyle/>
          <a:p>
            <a:pPr algn="l">
              <a:lnSpc>
                <a:spcPts val="2940"/>
              </a:lnSpc>
            </a:pPr>
            <a:r>
              <a:rPr lang="en-US" sz="2100">
                <a:solidFill>
                  <a:srgbClr val="5A6678"/>
                </a:solidFill>
                <a:latin typeface="IBM Plex Sans"/>
                <a:ea typeface="IBM Plex Sans"/>
                <a:cs typeface="IBM Plex Sans"/>
                <a:sym typeface="IBM Plex Sans"/>
              </a:rPr>
              <a:t>Best single set: 0.003454 vs Case 6’s 0.003559, a tie. Our scores are proxy-estimated; the organisers’ are simulator scores.</a:t>
            </a:r>
          </a:p>
        </p:txBody>
      </p:sp>
      <p:sp>
        <p:nvSpPr>
          <p:cNvPr id="16" name="TextBox 16"/>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T3 · History match &amp; forecast</a:t>
            </a:r>
          </a:p>
        </p:txBody>
      </p:sp>
      <p:sp>
        <p:nvSpPr>
          <p:cNvPr id="17" name="TextBox 17"/>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2"/>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Forecast methods, chosen by a cold test</a:t>
            </a:r>
          </a:p>
        </p:txBody>
      </p:sp>
      <p:grpSp>
        <p:nvGrpSpPr>
          <p:cNvPr id="3" name="Group 3"/>
          <p:cNvGrpSpPr/>
          <p:nvPr/>
        </p:nvGrpSpPr>
        <p:grpSpPr>
          <a:xfrm>
            <a:off x="1219200" y="2156460"/>
            <a:ext cx="7734300" cy="533400"/>
            <a:chOff x="0" y="0"/>
            <a:chExt cx="10312400" cy="711200"/>
          </a:xfrm>
        </p:grpSpPr>
        <p:sp>
          <p:nvSpPr>
            <p:cNvPr id="4" name="Freeform 4"/>
            <p:cNvSpPr/>
            <p:nvPr/>
          </p:nvSpPr>
          <p:spPr>
            <a:xfrm>
              <a:off x="0" y="0"/>
              <a:ext cx="10312400" cy="711200"/>
            </a:xfrm>
            <a:custGeom>
              <a:avLst/>
              <a:gdLst/>
              <a:ahLst/>
              <a:cxnLst/>
              <a:rect l="l" t="t" r="r" b="b"/>
              <a:pathLst>
                <a:path w="10312400" h="711200">
                  <a:moveTo>
                    <a:pt x="152400" y="0"/>
                  </a:moveTo>
                  <a:lnTo>
                    <a:pt x="10312400" y="0"/>
                  </a:lnTo>
                  <a:lnTo>
                    <a:pt x="10312400" y="711200"/>
                  </a:lnTo>
                  <a:lnTo>
                    <a:pt x="152400" y="711200"/>
                  </a:lnTo>
                  <a:cubicBezTo>
                    <a:pt x="68199" y="711200"/>
                    <a:pt x="0" y="643001"/>
                    <a:pt x="0" y="558800"/>
                  </a:cubicBezTo>
                  <a:lnTo>
                    <a:pt x="0" y="152400"/>
                  </a:lnTo>
                  <a:cubicBezTo>
                    <a:pt x="0" y="68199"/>
                    <a:pt x="68199" y="0"/>
                    <a:pt x="152400" y="0"/>
                  </a:cubicBezTo>
                  <a:close/>
                </a:path>
              </a:pathLst>
            </a:custGeom>
            <a:solidFill>
              <a:srgbClr val="C9D3E0"/>
            </a:solidFill>
          </p:spPr>
          <p:txBody>
            <a:bodyPr/>
            <a:lstStyle/>
            <a:p>
              <a:endParaRPr lang="en-MY"/>
            </a:p>
          </p:txBody>
        </p:sp>
        <p:sp>
          <p:nvSpPr>
            <p:cNvPr id="5" name="TextBox 5"/>
            <p:cNvSpPr txBox="1"/>
            <p:nvPr/>
          </p:nvSpPr>
          <p:spPr>
            <a:xfrm>
              <a:off x="0" y="-38100"/>
              <a:ext cx="10312400" cy="749300"/>
            </a:xfrm>
            <a:prstGeom prst="rect">
              <a:avLst/>
            </a:prstGeom>
          </p:spPr>
          <p:txBody>
            <a:bodyPr lIns="50800" tIns="50800" rIns="50800" bIns="50800" rtlCol="0" anchor="ctr"/>
            <a:lstStyle/>
            <a:p>
              <a:pPr algn="l">
                <a:lnSpc>
                  <a:spcPts val="2520"/>
                </a:lnSpc>
              </a:pPr>
              <a:r>
                <a:rPr lang="en-US" sz="1800">
                  <a:solidFill>
                    <a:srgbClr val="14213D"/>
                  </a:solidFill>
                  <a:latin typeface="IBM Plex Sans"/>
                  <a:ea typeface="IBM Plex Sans"/>
                  <a:cs typeface="IBM Plex Sans"/>
                  <a:sym typeface="IBM Plex Sans"/>
                </a:rPr>
                <a:t>1998–2003: start-up and plateau</a:t>
              </a:r>
            </a:p>
          </p:txBody>
        </p:sp>
      </p:grpSp>
      <p:grpSp>
        <p:nvGrpSpPr>
          <p:cNvPr id="6" name="Group 6"/>
          <p:cNvGrpSpPr/>
          <p:nvPr/>
        </p:nvGrpSpPr>
        <p:grpSpPr>
          <a:xfrm>
            <a:off x="8953500" y="2156460"/>
            <a:ext cx="3322320" cy="533400"/>
            <a:chOff x="0" y="0"/>
            <a:chExt cx="4429760" cy="711200"/>
          </a:xfrm>
        </p:grpSpPr>
        <p:sp>
          <p:nvSpPr>
            <p:cNvPr id="7" name="Freeform 7"/>
            <p:cNvSpPr/>
            <p:nvPr/>
          </p:nvSpPr>
          <p:spPr>
            <a:xfrm>
              <a:off x="0" y="0"/>
              <a:ext cx="4429760" cy="711200"/>
            </a:xfrm>
            <a:custGeom>
              <a:avLst/>
              <a:gdLst/>
              <a:ahLst/>
              <a:cxnLst/>
              <a:rect l="l" t="t" r="r" b="b"/>
              <a:pathLst>
                <a:path w="4429760" h="711200">
                  <a:moveTo>
                    <a:pt x="0" y="0"/>
                  </a:moveTo>
                  <a:lnTo>
                    <a:pt x="4429760" y="0"/>
                  </a:lnTo>
                  <a:lnTo>
                    <a:pt x="4429760" y="711200"/>
                  </a:lnTo>
                  <a:lnTo>
                    <a:pt x="0" y="711200"/>
                  </a:lnTo>
                  <a:close/>
                </a:path>
              </a:pathLst>
            </a:custGeom>
            <a:solidFill>
              <a:srgbClr val="14213D"/>
            </a:solidFill>
          </p:spPr>
          <p:txBody>
            <a:bodyPr/>
            <a:lstStyle/>
            <a:p>
              <a:endParaRPr lang="en-MY"/>
            </a:p>
          </p:txBody>
        </p:sp>
        <p:sp>
          <p:nvSpPr>
            <p:cNvPr id="8" name="TextBox 8"/>
            <p:cNvSpPr txBox="1"/>
            <p:nvPr/>
          </p:nvSpPr>
          <p:spPr>
            <a:xfrm>
              <a:off x="0" y="-38100"/>
              <a:ext cx="4429760" cy="749300"/>
            </a:xfrm>
            <a:prstGeom prst="rect">
              <a:avLst/>
            </a:prstGeom>
          </p:spPr>
          <p:txBody>
            <a:bodyPr lIns="50800" tIns="50800" rIns="50800" bIns="50800" rtlCol="0" anchor="ctr"/>
            <a:lstStyle/>
            <a:p>
              <a:pPr algn="l">
                <a:lnSpc>
                  <a:spcPts val="2520"/>
                </a:lnSpc>
              </a:pPr>
              <a:r>
                <a:rPr lang="en-US" sz="1800">
                  <a:solidFill>
                    <a:srgbClr val="F7F6F2"/>
                  </a:solidFill>
                  <a:latin typeface="IBM Plex Sans"/>
                  <a:ea typeface="IBM Plex Sans"/>
                  <a:cs typeface="IBM Plex Sans"/>
                  <a:sym typeface="IBM Plex Sans"/>
                </a:rPr>
                <a:t>2003–2005: fit</a:t>
              </a:r>
            </a:p>
          </p:txBody>
        </p:sp>
      </p:grpSp>
      <p:grpSp>
        <p:nvGrpSpPr>
          <p:cNvPr id="9" name="Group 9"/>
          <p:cNvGrpSpPr/>
          <p:nvPr/>
        </p:nvGrpSpPr>
        <p:grpSpPr>
          <a:xfrm>
            <a:off x="12275820" y="2156460"/>
            <a:ext cx="4792980" cy="533400"/>
            <a:chOff x="0" y="0"/>
            <a:chExt cx="6390640" cy="711200"/>
          </a:xfrm>
        </p:grpSpPr>
        <p:sp>
          <p:nvSpPr>
            <p:cNvPr id="10" name="Freeform 10"/>
            <p:cNvSpPr/>
            <p:nvPr/>
          </p:nvSpPr>
          <p:spPr>
            <a:xfrm>
              <a:off x="0" y="0"/>
              <a:ext cx="6390640" cy="711200"/>
            </a:xfrm>
            <a:custGeom>
              <a:avLst/>
              <a:gdLst/>
              <a:ahLst/>
              <a:cxnLst/>
              <a:rect l="l" t="t" r="r" b="b"/>
              <a:pathLst>
                <a:path w="6390640" h="711200">
                  <a:moveTo>
                    <a:pt x="0" y="0"/>
                  </a:moveTo>
                  <a:lnTo>
                    <a:pt x="6238240" y="0"/>
                  </a:lnTo>
                  <a:cubicBezTo>
                    <a:pt x="6322441" y="0"/>
                    <a:pt x="6390640" y="68199"/>
                    <a:pt x="6390640" y="152400"/>
                  </a:cubicBezTo>
                  <a:lnTo>
                    <a:pt x="6390640" y="558800"/>
                  </a:lnTo>
                  <a:cubicBezTo>
                    <a:pt x="6390640" y="643001"/>
                    <a:pt x="6322441" y="711200"/>
                    <a:pt x="6238240" y="711200"/>
                  </a:cubicBezTo>
                  <a:lnTo>
                    <a:pt x="0" y="711200"/>
                  </a:lnTo>
                  <a:lnTo>
                    <a:pt x="0" y="0"/>
                  </a:lnTo>
                  <a:close/>
                </a:path>
              </a:pathLst>
            </a:custGeom>
            <a:solidFill>
              <a:srgbClr val="E07A2F"/>
            </a:solidFill>
          </p:spPr>
          <p:txBody>
            <a:bodyPr/>
            <a:lstStyle/>
            <a:p>
              <a:endParaRPr lang="en-MY"/>
            </a:p>
          </p:txBody>
        </p:sp>
        <p:sp>
          <p:nvSpPr>
            <p:cNvPr id="11" name="TextBox 11"/>
            <p:cNvSpPr txBox="1"/>
            <p:nvPr/>
          </p:nvSpPr>
          <p:spPr>
            <a:xfrm>
              <a:off x="0" y="-38100"/>
              <a:ext cx="6390640" cy="749300"/>
            </a:xfrm>
            <a:prstGeom prst="rect">
              <a:avLst/>
            </a:prstGeom>
          </p:spPr>
          <p:txBody>
            <a:bodyPr lIns="50800" tIns="50800" rIns="50800" bIns="50800" rtlCol="0" anchor="ctr"/>
            <a:lstStyle/>
            <a:p>
              <a:pPr algn="l">
                <a:lnSpc>
                  <a:spcPts val="2520"/>
                </a:lnSpc>
              </a:pPr>
              <a:r>
                <a:rPr lang="en-US" sz="1800" b="1">
                  <a:solidFill>
                    <a:srgbClr val="14213D"/>
                  </a:solidFill>
                  <a:latin typeface="IBM Plex Sans Bold"/>
                  <a:ea typeface="IBM Plex Sans Bold"/>
                  <a:cs typeface="IBM Plex Sans Bold"/>
                  <a:sym typeface="IBM Plex Sans Bold"/>
                </a:rPr>
                <a:t>2005–2008: hidden, then checked</a:t>
              </a:r>
            </a:p>
          </p:txBody>
        </p:sp>
      </p:grpSp>
      <p:sp>
        <p:nvSpPr>
          <p:cNvPr id="12" name="TextBox 12"/>
          <p:cNvSpPr txBox="1"/>
          <p:nvPr/>
        </p:nvSpPr>
        <p:spPr>
          <a:xfrm>
            <a:off x="1219200" y="2947035"/>
            <a:ext cx="8005572" cy="413385"/>
          </a:xfrm>
          <a:prstGeom prst="rect">
            <a:avLst/>
          </a:prstGeom>
        </p:spPr>
        <p:txBody>
          <a:bodyPr lIns="0" tIns="0" rIns="0" bIns="0" rtlCol="0" anchor="t">
            <a:spAutoFit/>
          </a:bodyPr>
          <a:lstStyle/>
          <a:p>
            <a:pPr algn="l">
              <a:lnSpc>
                <a:spcPts val="2879"/>
              </a:lnSpc>
            </a:pPr>
            <a:r>
              <a:rPr lang="en-US" sz="2400" b="1">
                <a:solidFill>
                  <a:srgbClr val="14213D"/>
                </a:solidFill>
                <a:latin typeface="Rubik Bold"/>
                <a:ea typeface="Rubik Bold"/>
                <a:cs typeface="Rubik Bold"/>
                <a:sym typeface="Rubik Bold"/>
              </a:rPr>
              <a:t>Oil and gas: decline curve shape</a:t>
            </a:r>
          </a:p>
        </p:txBody>
      </p:sp>
      <p:grpSp>
        <p:nvGrpSpPr>
          <p:cNvPr id="13" name="Group 13"/>
          <p:cNvGrpSpPr/>
          <p:nvPr/>
        </p:nvGrpSpPr>
        <p:grpSpPr>
          <a:xfrm>
            <a:off x="1219200" y="3436620"/>
            <a:ext cx="7772400" cy="2023110"/>
            <a:chOff x="0" y="0"/>
            <a:chExt cx="10363200" cy="2697480"/>
          </a:xfrm>
        </p:grpSpPr>
        <p:sp>
          <p:nvSpPr>
            <p:cNvPr id="14" name="Freeform 14"/>
            <p:cNvSpPr/>
            <p:nvPr/>
          </p:nvSpPr>
          <p:spPr>
            <a:xfrm>
              <a:off x="0" y="0"/>
              <a:ext cx="10363200" cy="2697480"/>
            </a:xfrm>
            <a:custGeom>
              <a:avLst/>
              <a:gdLst/>
              <a:ahLst/>
              <a:cxnLst/>
              <a:rect l="l" t="t" r="r" b="b"/>
              <a:pathLst>
                <a:path w="10363200" h="2697480">
                  <a:moveTo>
                    <a:pt x="0" y="0"/>
                  </a:moveTo>
                  <a:lnTo>
                    <a:pt x="10363200" y="0"/>
                  </a:lnTo>
                  <a:lnTo>
                    <a:pt x="10363200" y="2697480"/>
                  </a:lnTo>
                  <a:lnTo>
                    <a:pt x="0" y="2697480"/>
                  </a:lnTo>
                  <a:close/>
                </a:path>
              </a:pathLst>
            </a:custGeom>
            <a:solidFill>
              <a:srgbClr val="FFFFFF"/>
            </a:solidFill>
          </p:spPr>
          <p:txBody>
            <a:bodyPr/>
            <a:lstStyle/>
            <a:p>
              <a:endParaRPr lang="en-MY"/>
            </a:p>
          </p:txBody>
        </p:sp>
      </p:grpSp>
      <p:sp>
        <p:nvSpPr>
          <p:cNvPr id="15" name="AutoShape 15"/>
          <p:cNvSpPr/>
          <p:nvPr/>
        </p:nvSpPr>
        <p:spPr>
          <a:xfrm rot="5383920">
            <a:off x="7970510" y="4443412"/>
            <a:ext cx="2032654" cy="0"/>
          </a:xfrm>
          <a:prstGeom prst="line">
            <a:avLst/>
          </a:prstGeom>
          <a:ln w="9525" cap="rnd">
            <a:solidFill>
              <a:srgbClr val="DCE1E8"/>
            </a:solidFill>
            <a:prstDash val="solid"/>
            <a:headEnd type="none" w="sm" len="sm"/>
            <a:tailEnd type="none" w="sm" len="sm"/>
          </a:ln>
        </p:spPr>
        <p:txBody>
          <a:bodyPr/>
          <a:lstStyle/>
          <a:p>
            <a:endParaRPr lang="en-MY"/>
          </a:p>
        </p:txBody>
      </p:sp>
      <p:sp>
        <p:nvSpPr>
          <p:cNvPr id="16" name="AutoShape 16"/>
          <p:cNvSpPr/>
          <p:nvPr/>
        </p:nvSpPr>
        <p:spPr>
          <a:xfrm rot="4200">
            <a:off x="1214438" y="5450205"/>
            <a:ext cx="7781935" cy="0"/>
          </a:xfrm>
          <a:prstGeom prst="line">
            <a:avLst/>
          </a:prstGeom>
          <a:ln w="9525" cap="rnd">
            <a:solidFill>
              <a:srgbClr val="DCE1E8"/>
            </a:solidFill>
            <a:prstDash val="solid"/>
            <a:headEnd type="none" w="sm" len="sm"/>
            <a:tailEnd type="none" w="sm" len="sm"/>
          </a:ln>
        </p:spPr>
        <p:txBody>
          <a:bodyPr/>
          <a:lstStyle/>
          <a:p>
            <a:endParaRPr lang="en-MY"/>
          </a:p>
        </p:txBody>
      </p:sp>
      <p:graphicFrame>
        <p:nvGraphicFramePr>
          <p:cNvPr id="17" name="Table 17"/>
          <p:cNvGraphicFramePr>
            <a:graphicFrameLocks noGrp="1"/>
          </p:cNvGraphicFramePr>
          <p:nvPr/>
        </p:nvGraphicFramePr>
        <p:xfrm>
          <a:off x="1238250" y="3455670"/>
          <a:ext cx="7715250" cy="1981200"/>
        </p:xfrm>
        <a:graphic>
          <a:graphicData uri="http://schemas.openxmlformats.org/drawingml/2006/table">
            <a:tbl>
              <a:tblPr/>
              <a:tblGrid>
                <a:gridCol w="3382743">
                  <a:extLst>
                    <a:ext uri="{9D8B030D-6E8A-4147-A177-3AD203B41FA5}">
                      <a16:colId xmlns:a16="http://schemas.microsoft.com/office/drawing/2014/main" val="20000"/>
                    </a:ext>
                  </a:extLst>
                </a:gridCol>
                <a:gridCol w="1710070">
                  <a:extLst>
                    <a:ext uri="{9D8B030D-6E8A-4147-A177-3AD203B41FA5}">
                      <a16:colId xmlns:a16="http://schemas.microsoft.com/office/drawing/2014/main" val="20001"/>
                    </a:ext>
                  </a:extLst>
                </a:gridCol>
                <a:gridCol w="2622437">
                  <a:extLst>
                    <a:ext uri="{9D8B030D-6E8A-4147-A177-3AD203B41FA5}">
                      <a16:colId xmlns:a16="http://schemas.microsoft.com/office/drawing/2014/main" val="20002"/>
                    </a:ext>
                  </a:extLst>
                </a:gridCol>
              </a:tblGrid>
              <a:tr h="495300">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Method</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Error</a:t>
                      </a:r>
                      <a:endParaRPr lang="en-US" sz="1100"/>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Result</a:t>
                      </a:r>
                      <a:endParaRPr lang="en-US" sz="1100"/>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Exponential (b = 0)</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−11.9%</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Too low, dropped</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Hyperbolic (b free)</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b hit 1</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Same as b = 1</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Harmonic (b = 1)</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AC0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B8"/>
                      </a:solidFill>
                      <a:prstDash val="solid"/>
                      <a:round/>
                      <a:headEnd type="none" w="med" len="med"/>
                      <a:tailEnd type="none" w="med" len="med"/>
                    </a:lnB>
                    <a:solidFill>
                      <a:srgbClr val="FDF1E7"/>
                    </a:solidFill>
                  </a:tcPr>
                </a:tc>
                <a:tc>
                  <a:txBody>
                    <a:bodyPr/>
                    <a:lstStyle/>
                    <a:p>
                      <a:pPr algn="l">
                        <a:lnSpc>
                          <a:spcPts val="2520"/>
                        </a:lnSpc>
                        <a:defRPr/>
                      </a:pPr>
                      <a:r>
                        <a:rPr lang="en-US" sz="1800">
                          <a:solidFill>
                            <a:srgbClr val="3D4A5C"/>
                          </a:solidFill>
                          <a:latin typeface="IBM Plex Sans"/>
                          <a:ea typeface="IBM Plex Sans"/>
                          <a:cs typeface="IBM Plex Sans"/>
                          <a:sym typeface="IBM Plex Sans"/>
                        </a:rPr>
                        <a:t>−0.2%</a:t>
                      </a:r>
                      <a:endParaRPr lang="en-US" sz="1100"/>
                    </a:p>
                  </a:txBody>
                  <a:tcPr marL="53340" marR="53340" marT="53340" marB="53340">
                    <a:lnL w="12700" cap="flat" cmpd="sng" algn="ctr">
                      <a:solidFill>
                        <a:srgbClr val="CAC0B8"/>
                      </a:solidFill>
                      <a:prstDash val="solid"/>
                      <a:round/>
                      <a:headEnd type="none" w="med" len="med"/>
                      <a:tailEnd type="none" w="med" len="med"/>
                    </a:lnL>
                    <a:lnR w="12700" cap="flat" cmpd="sng" algn="ctr">
                      <a:solidFill>
                        <a:srgbClr val="CAC0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B8"/>
                      </a:solidFill>
                      <a:prstDash val="solid"/>
                      <a:round/>
                      <a:headEnd type="none" w="med" len="med"/>
                      <a:tailEnd type="none" w="med" len="med"/>
                    </a:lnB>
                    <a:solidFill>
                      <a:srgbClr val="FDF1E7"/>
                    </a:solidFill>
                  </a:tcPr>
                </a:tc>
                <a:tc>
                  <a:txBody>
                    <a:bodyPr/>
                    <a:lstStyle/>
                    <a:p>
                      <a:pPr algn="l">
                        <a:lnSpc>
                          <a:spcPts val="2520"/>
                        </a:lnSpc>
                        <a:defRPr/>
                      </a:pPr>
                      <a:r>
                        <a:rPr lang="en-US" sz="1800">
                          <a:solidFill>
                            <a:srgbClr val="3D4A5C"/>
                          </a:solidFill>
                          <a:latin typeface="IBM Plex Sans"/>
                          <a:ea typeface="IBM Plex Sans"/>
                          <a:cs typeface="IBM Plex Sans"/>
                          <a:sym typeface="IBM Plex Sans"/>
                        </a:rPr>
                        <a:t>Chosen</a:t>
                      </a:r>
                      <a:endParaRPr lang="en-US" sz="1100"/>
                    </a:p>
                  </a:txBody>
                  <a:tcPr marL="53340" marR="53340" marT="53340" marB="53340">
                    <a:lnL w="12700" cap="flat" cmpd="sng" algn="ctr">
                      <a:solidFill>
                        <a:srgbClr val="CAC0B8"/>
                      </a:solidFill>
                      <a:prstDash val="solid"/>
                      <a:round/>
                      <a:headEnd type="none" w="med" len="med"/>
                      <a:tailEnd type="none" w="med" len="med"/>
                    </a:lnL>
                    <a:lnR w="12700" cap="flat" cmpd="sng" algn="ctr">
                      <a:solidFill>
                        <a:srgbClr val="CAC0B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AC0B8"/>
                      </a:solidFill>
                      <a:prstDash val="solid"/>
                      <a:round/>
                      <a:headEnd type="none" w="med" len="med"/>
                      <a:tailEnd type="none" w="med" len="med"/>
                    </a:lnB>
                    <a:solidFill>
                      <a:srgbClr val="FDF1E7"/>
                    </a:solidFill>
                  </a:tcPr>
                </a:tc>
                <a:extLst>
                  <a:ext uri="{0D108BD9-81ED-4DB2-BD59-A6C34878D82A}">
                    <a16:rowId xmlns:a16="http://schemas.microsoft.com/office/drawing/2014/main" val="10003"/>
                  </a:ext>
                </a:extLst>
              </a:tr>
            </a:tbl>
          </a:graphicData>
        </a:graphic>
      </p:graphicFrame>
      <p:sp>
        <p:nvSpPr>
          <p:cNvPr id="18" name="TextBox 18"/>
          <p:cNvSpPr txBox="1"/>
          <p:nvPr/>
        </p:nvSpPr>
        <p:spPr>
          <a:xfrm>
            <a:off x="9296400" y="2947035"/>
            <a:ext cx="8005572" cy="413385"/>
          </a:xfrm>
          <a:prstGeom prst="rect">
            <a:avLst/>
          </a:prstGeom>
        </p:spPr>
        <p:txBody>
          <a:bodyPr lIns="0" tIns="0" rIns="0" bIns="0" rtlCol="0" anchor="t">
            <a:spAutoFit/>
          </a:bodyPr>
          <a:lstStyle/>
          <a:p>
            <a:pPr algn="l">
              <a:lnSpc>
                <a:spcPts val="2879"/>
              </a:lnSpc>
            </a:pPr>
            <a:r>
              <a:rPr lang="en-US" sz="2400" b="1">
                <a:solidFill>
                  <a:srgbClr val="14213D"/>
                </a:solidFill>
                <a:latin typeface="Rubik Bold"/>
                <a:ea typeface="Rubik Bold"/>
                <a:cs typeface="Rubik Bold"/>
                <a:sym typeface="Rubik Bold"/>
              </a:rPr>
              <a:t>Water: water-oil ratio (WOR) trend</a:t>
            </a:r>
          </a:p>
        </p:txBody>
      </p:sp>
      <p:grpSp>
        <p:nvGrpSpPr>
          <p:cNvPr id="19" name="Group 19"/>
          <p:cNvGrpSpPr/>
          <p:nvPr/>
        </p:nvGrpSpPr>
        <p:grpSpPr>
          <a:xfrm>
            <a:off x="9296400" y="3436620"/>
            <a:ext cx="7772400" cy="2023110"/>
            <a:chOff x="0" y="0"/>
            <a:chExt cx="10363200" cy="2697480"/>
          </a:xfrm>
        </p:grpSpPr>
        <p:sp>
          <p:nvSpPr>
            <p:cNvPr id="20" name="Freeform 20"/>
            <p:cNvSpPr/>
            <p:nvPr/>
          </p:nvSpPr>
          <p:spPr>
            <a:xfrm>
              <a:off x="0" y="0"/>
              <a:ext cx="10363200" cy="2697480"/>
            </a:xfrm>
            <a:custGeom>
              <a:avLst/>
              <a:gdLst/>
              <a:ahLst/>
              <a:cxnLst/>
              <a:rect l="l" t="t" r="r" b="b"/>
              <a:pathLst>
                <a:path w="10363200" h="2697480">
                  <a:moveTo>
                    <a:pt x="0" y="0"/>
                  </a:moveTo>
                  <a:lnTo>
                    <a:pt x="10363200" y="0"/>
                  </a:lnTo>
                  <a:lnTo>
                    <a:pt x="10363200" y="2697480"/>
                  </a:lnTo>
                  <a:lnTo>
                    <a:pt x="0" y="2697480"/>
                  </a:lnTo>
                  <a:close/>
                </a:path>
              </a:pathLst>
            </a:custGeom>
            <a:solidFill>
              <a:srgbClr val="FFFFFF"/>
            </a:solidFill>
          </p:spPr>
          <p:txBody>
            <a:bodyPr/>
            <a:lstStyle/>
            <a:p>
              <a:endParaRPr lang="en-MY"/>
            </a:p>
          </p:txBody>
        </p:sp>
      </p:grpSp>
      <p:sp>
        <p:nvSpPr>
          <p:cNvPr id="21" name="AutoShape 21"/>
          <p:cNvSpPr/>
          <p:nvPr/>
        </p:nvSpPr>
        <p:spPr>
          <a:xfrm rot="5383920">
            <a:off x="16047710" y="4443412"/>
            <a:ext cx="2032654" cy="0"/>
          </a:xfrm>
          <a:prstGeom prst="line">
            <a:avLst/>
          </a:prstGeom>
          <a:ln w="9525" cap="rnd">
            <a:solidFill>
              <a:srgbClr val="DCE1E8"/>
            </a:solidFill>
            <a:prstDash val="solid"/>
            <a:headEnd type="none" w="sm" len="sm"/>
            <a:tailEnd type="none" w="sm" len="sm"/>
          </a:ln>
        </p:spPr>
        <p:txBody>
          <a:bodyPr/>
          <a:lstStyle/>
          <a:p>
            <a:endParaRPr lang="en-MY"/>
          </a:p>
        </p:txBody>
      </p:sp>
      <p:sp>
        <p:nvSpPr>
          <p:cNvPr id="22" name="AutoShape 22"/>
          <p:cNvSpPr/>
          <p:nvPr/>
        </p:nvSpPr>
        <p:spPr>
          <a:xfrm rot="4200">
            <a:off x="9291638" y="5450205"/>
            <a:ext cx="7781935" cy="0"/>
          </a:xfrm>
          <a:prstGeom prst="line">
            <a:avLst/>
          </a:prstGeom>
          <a:ln w="9525" cap="rnd">
            <a:solidFill>
              <a:srgbClr val="DCE1E8"/>
            </a:solidFill>
            <a:prstDash val="solid"/>
            <a:headEnd type="none" w="sm" len="sm"/>
            <a:tailEnd type="none" w="sm" len="sm"/>
          </a:ln>
        </p:spPr>
        <p:txBody>
          <a:bodyPr/>
          <a:lstStyle/>
          <a:p>
            <a:endParaRPr lang="en-MY"/>
          </a:p>
        </p:txBody>
      </p:sp>
      <p:graphicFrame>
        <p:nvGraphicFramePr>
          <p:cNvPr id="23" name="Table 23"/>
          <p:cNvGraphicFramePr>
            <a:graphicFrameLocks noGrp="1"/>
          </p:cNvGraphicFramePr>
          <p:nvPr/>
        </p:nvGraphicFramePr>
        <p:xfrm>
          <a:off x="9315450" y="3455670"/>
          <a:ext cx="7715250" cy="1981200"/>
        </p:xfrm>
        <a:graphic>
          <a:graphicData uri="http://schemas.openxmlformats.org/drawingml/2006/table">
            <a:tbl>
              <a:tblPr/>
              <a:tblGrid>
                <a:gridCol w="3382743">
                  <a:extLst>
                    <a:ext uri="{9D8B030D-6E8A-4147-A177-3AD203B41FA5}">
                      <a16:colId xmlns:a16="http://schemas.microsoft.com/office/drawing/2014/main" val="20000"/>
                    </a:ext>
                  </a:extLst>
                </a:gridCol>
                <a:gridCol w="1710070">
                  <a:extLst>
                    <a:ext uri="{9D8B030D-6E8A-4147-A177-3AD203B41FA5}">
                      <a16:colId xmlns:a16="http://schemas.microsoft.com/office/drawing/2014/main" val="20001"/>
                    </a:ext>
                  </a:extLst>
                </a:gridCol>
                <a:gridCol w="2622437">
                  <a:extLst>
                    <a:ext uri="{9D8B030D-6E8A-4147-A177-3AD203B41FA5}">
                      <a16:colId xmlns:a16="http://schemas.microsoft.com/office/drawing/2014/main" val="20002"/>
                    </a:ext>
                  </a:extLst>
                </a:gridCol>
              </a:tblGrid>
              <a:tr h="495300">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Method</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Error</a:t>
                      </a:r>
                      <a:endParaRPr lang="en-US" sz="1100"/>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l">
                        <a:lnSpc>
                          <a:spcPts val="2520"/>
                        </a:lnSpc>
                        <a:defRPr/>
                      </a:pPr>
                      <a:r>
                        <a:rPr lang="en-US" sz="1800" b="1">
                          <a:solidFill>
                            <a:srgbClr val="F7F6F2"/>
                          </a:solidFill>
                          <a:latin typeface="IBM Plex Sans Bold"/>
                          <a:ea typeface="IBM Plex Sans Bold"/>
                          <a:cs typeface="IBM Plex Sans Bold"/>
                          <a:sym typeface="IBM Plex Sans Bold"/>
                        </a:rPr>
                        <a:t>Result</a:t>
                      </a:r>
                      <a:endParaRPr lang="en-US" sz="1100"/>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WOR vs time</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+51%</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Dropped</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Logistic water cut</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+51%</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l">
                        <a:lnSpc>
                          <a:spcPts val="2520"/>
                        </a:lnSpc>
                        <a:defRPr/>
                      </a:pPr>
                      <a:r>
                        <a:rPr lang="en-US" sz="1800">
                          <a:solidFill>
                            <a:srgbClr val="3D4A5C"/>
                          </a:solidFill>
                          <a:latin typeface="IBM Plex Sans"/>
                          <a:ea typeface="IBM Plex Sans"/>
                          <a:cs typeface="IBM Plex Sans"/>
                          <a:sym typeface="IBM Plex Sans"/>
                        </a:rPr>
                        <a:t>Dropped</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95300">
                <a:tc>
                  <a:txBody>
                    <a:bodyPr/>
                    <a:lstStyle/>
                    <a:p>
                      <a:pPr algn="l">
                        <a:lnSpc>
                          <a:spcPts val="2520"/>
                        </a:lnSpc>
                        <a:defRPr/>
                      </a:pPr>
                      <a:r>
                        <a:rPr lang="en-US" sz="1800">
                          <a:solidFill>
                            <a:srgbClr val="3D4A5C"/>
                          </a:solidFill>
                          <a:latin typeface="IBM Plex Sans"/>
                          <a:ea typeface="IBM Plex Sans"/>
                          <a:cs typeface="IBM Plex Sans"/>
                          <a:sym typeface="IBM Plex Sans"/>
                        </a:rPr>
                        <a:t>WOR vs cumulative oil</a:t>
                      </a:r>
                      <a:endParaRPr lang="en-US" sz="1100"/>
                    </a:p>
                  </a:txBody>
                  <a:tcPr marL="53340" marR="53340" marT="53340" marB="53340">
                    <a:lnL w="12700" cap="flat" cmpd="sng" algn="ctr">
                      <a:solidFill>
                        <a:srgbClr val="CBCBCB"/>
                      </a:solidFill>
                      <a:prstDash val="solid"/>
                      <a:round/>
                      <a:headEnd type="none" w="med" len="med"/>
                      <a:tailEnd type="none" w="med" len="med"/>
                    </a:lnL>
                    <a:lnR w="12700" cap="flat" cmpd="sng" algn="ctr">
                      <a:solidFill>
                        <a:srgbClr val="B8BE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EC5"/>
                      </a:solidFill>
                      <a:prstDash val="solid"/>
                      <a:round/>
                      <a:headEnd type="none" w="med" len="med"/>
                      <a:tailEnd type="none" w="med" len="med"/>
                    </a:lnB>
                    <a:solidFill>
                      <a:srgbClr val="E6EEF7"/>
                    </a:solidFill>
                  </a:tcPr>
                </a:tc>
                <a:tc>
                  <a:txBody>
                    <a:bodyPr/>
                    <a:lstStyle/>
                    <a:p>
                      <a:pPr algn="l">
                        <a:lnSpc>
                          <a:spcPts val="2520"/>
                        </a:lnSpc>
                        <a:defRPr/>
                      </a:pPr>
                      <a:r>
                        <a:rPr lang="en-US" sz="1800">
                          <a:solidFill>
                            <a:srgbClr val="3D4A5C"/>
                          </a:solidFill>
                          <a:latin typeface="IBM Plex Sans"/>
                          <a:ea typeface="IBM Plex Sans"/>
                          <a:cs typeface="IBM Plex Sans"/>
                          <a:sym typeface="IBM Plex Sans"/>
                        </a:rPr>
                        <a:t>+15%</a:t>
                      </a:r>
                      <a:endParaRPr lang="en-US" sz="1100"/>
                    </a:p>
                  </a:txBody>
                  <a:tcPr marL="53340" marR="53340" marT="53340" marB="53340">
                    <a:lnL w="12700" cap="flat" cmpd="sng" algn="ctr">
                      <a:solidFill>
                        <a:srgbClr val="B8BEC5"/>
                      </a:solidFill>
                      <a:prstDash val="solid"/>
                      <a:round/>
                      <a:headEnd type="none" w="med" len="med"/>
                      <a:tailEnd type="none" w="med" len="med"/>
                    </a:lnL>
                    <a:lnR w="12700" cap="flat" cmpd="sng" algn="ctr">
                      <a:solidFill>
                        <a:srgbClr val="B8BE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EC5"/>
                      </a:solidFill>
                      <a:prstDash val="solid"/>
                      <a:round/>
                      <a:headEnd type="none" w="med" len="med"/>
                      <a:tailEnd type="none" w="med" len="med"/>
                    </a:lnB>
                    <a:solidFill>
                      <a:srgbClr val="E6EEF7"/>
                    </a:solidFill>
                  </a:tcPr>
                </a:tc>
                <a:tc>
                  <a:txBody>
                    <a:bodyPr/>
                    <a:lstStyle/>
                    <a:p>
                      <a:pPr algn="l">
                        <a:lnSpc>
                          <a:spcPts val="2520"/>
                        </a:lnSpc>
                        <a:defRPr/>
                      </a:pPr>
                      <a:r>
                        <a:rPr lang="en-US" sz="1800">
                          <a:solidFill>
                            <a:srgbClr val="3D4A5C"/>
                          </a:solidFill>
                          <a:latin typeface="IBM Plex Sans"/>
                          <a:ea typeface="IBM Plex Sans"/>
                          <a:cs typeface="IBM Plex Sans"/>
                          <a:sym typeface="IBM Plex Sans"/>
                        </a:rPr>
                        <a:t>Chosen</a:t>
                      </a:r>
                      <a:endParaRPr lang="en-US" sz="1100"/>
                    </a:p>
                  </a:txBody>
                  <a:tcPr marL="53340" marR="53340" marT="53340" marB="53340">
                    <a:lnL w="12700" cap="flat" cmpd="sng" algn="ctr">
                      <a:solidFill>
                        <a:srgbClr val="B8BEC5"/>
                      </a:solidFill>
                      <a:prstDash val="solid"/>
                      <a:round/>
                      <a:headEnd type="none" w="med" len="med"/>
                      <a:tailEnd type="none" w="med" len="med"/>
                    </a:lnL>
                    <a:lnR w="12700" cap="flat" cmpd="sng" algn="ctr">
                      <a:solidFill>
                        <a:srgbClr val="B8BE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8BEC5"/>
                      </a:solidFill>
                      <a:prstDash val="solid"/>
                      <a:round/>
                      <a:headEnd type="none" w="med" len="med"/>
                      <a:tailEnd type="none" w="med" len="med"/>
                    </a:lnB>
                    <a:solidFill>
                      <a:srgbClr val="E6EEF7"/>
                    </a:solidFill>
                  </a:tcPr>
                </a:tc>
                <a:extLst>
                  <a:ext uri="{0D108BD9-81ED-4DB2-BD59-A6C34878D82A}">
                    <a16:rowId xmlns:a16="http://schemas.microsoft.com/office/drawing/2014/main" val="10003"/>
                  </a:ext>
                </a:extLst>
              </a:tr>
            </a:tbl>
          </a:graphicData>
        </a:graphic>
      </p:graphicFrame>
      <p:sp>
        <p:nvSpPr>
          <p:cNvPr id="24" name="TextBox 24"/>
          <p:cNvSpPr txBox="1"/>
          <p:nvPr/>
        </p:nvSpPr>
        <p:spPr>
          <a:xfrm>
            <a:off x="1219200" y="5688330"/>
            <a:ext cx="16325088" cy="396240"/>
          </a:xfrm>
          <a:prstGeom prst="rect">
            <a:avLst/>
          </a:prstGeom>
        </p:spPr>
        <p:txBody>
          <a:bodyPr lIns="0" tIns="0" rIns="0" bIns="0" rtlCol="0" anchor="t">
            <a:spAutoFit/>
          </a:bodyPr>
          <a:lstStyle/>
          <a:p>
            <a:pPr algn="l">
              <a:lnSpc>
                <a:spcPts val="2520"/>
              </a:lnSpc>
            </a:pPr>
            <a:r>
              <a:rPr lang="en-US" sz="1800">
                <a:solidFill>
                  <a:srgbClr val="5A6678"/>
                </a:solidFill>
                <a:latin typeface="IBM Plex Sans"/>
                <a:ea typeface="IBM Plex Sans"/>
                <a:cs typeface="IBM Plex Sans"/>
                <a:sym typeface="IBM Plex Sans"/>
              </a:rPr>
              <a:t>Error = cumulative 2005–2008, forecast vs the hidden proxy curve (3-year cold test).</a:t>
            </a:r>
          </a:p>
        </p:txBody>
      </p:sp>
      <p:grpSp>
        <p:nvGrpSpPr>
          <p:cNvPr id="25" name="Group 25"/>
          <p:cNvGrpSpPr/>
          <p:nvPr/>
        </p:nvGrpSpPr>
        <p:grpSpPr>
          <a:xfrm>
            <a:off x="1219200" y="6313170"/>
            <a:ext cx="15849600" cy="1150620"/>
            <a:chOff x="0" y="0"/>
            <a:chExt cx="21132800" cy="1534160"/>
          </a:xfrm>
        </p:grpSpPr>
        <p:sp>
          <p:nvSpPr>
            <p:cNvPr id="26" name="Freeform 26"/>
            <p:cNvSpPr/>
            <p:nvPr/>
          </p:nvSpPr>
          <p:spPr>
            <a:xfrm>
              <a:off x="0" y="0"/>
              <a:ext cx="21132800" cy="1534160"/>
            </a:xfrm>
            <a:custGeom>
              <a:avLst/>
              <a:gdLst/>
              <a:ahLst/>
              <a:cxnLst/>
              <a:rect l="l" t="t" r="r" b="b"/>
              <a:pathLst>
                <a:path w="21132800" h="1534160">
                  <a:moveTo>
                    <a:pt x="0" y="203200"/>
                  </a:moveTo>
                  <a:cubicBezTo>
                    <a:pt x="0" y="90932"/>
                    <a:pt x="90932" y="0"/>
                    <a:pt x="203200" y="0"/>
                  </a:cubicBezTo>
                  <a:lnTo>
                    <a:pt x="20929600" y="0"/>
                  </a:lnTo>
                  <a:cubicBezTo>
                    <a:pt x="21041868" y="0"/>
                    <a:pt x="21132800" y="90932"/>
                    <a:pt x="21132800" y="203200"/>
                  </a:cubicBezTo>
                  <a:lnTo>
                    <a:pt x="21132800" y="1330960"/>
                  </a:lnTo>
                  <a:cubicBezTo>
                    <a:pt x="21132800" y="1443228"/>
                    <a:pt x="21041868" y="1534160"/>
                    <a:pt x="20929600" y="1534160"/>
                  </a:cubicBezTo>
                  <a:lnTo>
                    <a:pt x="203200" y="1534160"/>
                  </a:lnTo>
                  <a:cubicBezTo>
                    <a:pt x="90932" y="1534160"/>
                    <a:pt x="0" y="1443228"/>
                    <a:pt x="0" y="1330960"/>
                  </a:cubicBezTo>
                  <a:close/>
                </a:path>
              </a:pathLst>
            </a:custGeom>
            <a:solidFill>
              <a:srgbClr val="14213D"/>
            </a:solidFill>
          </p:spPr>
          <p:txBody>
            <a:bodyPr/>
            <a:lstStyle/>
            <a:p>
              <a:endParaRPr lang="en-MY"/>
            </a:p>
          </p:txBody>
        </p:sp>
      </p:grpSp>
      <p:sp>
        <p:nvSpPr>
          <p:cNvPr id="27" name="TextBox 27"/>
          <p:cNvSpPr txBox="1"/>
          <p:nvPr/>
        </p:nvSpPr>
        <p:spPr>
          <a:xfrm>
            <a:off x="1562100" y="6696075"/>
            <a:ext cx="2552700" cy="413385"/>
          </a:xfrm>
          <a:prstGeom prst="rect">
            <a:avLst/>
          </a:prstGeom>
        </p:spPr>
        <p:txBody>
          <a:bodyPr lIns="0" tIns="0" rIns="0" bIns="0" rtlCol="0" anchor="t">
            <a:spAutoFit/>
          </a:bodyPr>
          <a:lstStyle/>
          <a:p>
            <a:pPr algn="l">
              <a:lnSpc>
                <a:spcPts val="2879"/>
              </a:lnSpc>
            </a:pPr>
            <a:r>
              <a:rPr lang="en-US" sz="2400" b="1">
                <a:solidFill>
                  <a:srgbClr val="E07A2F"/>
                </a:solidFill>
                <a:latin typeface="Rubik Bold"/>
                <a:ea typeface="Rubik Bold"/>
                <a:cs typeface="Rubik Bold"/>
                <a:sym typeface="Rubik Bold"/>
              </a:rPr>
              <a:t>Water cap</a:t>
            </a:r>
          </a:p>
        </p:txBody>
      </p:sp>
      <p:sp>
        <p:nvSpPr>
          <p:cNvPr id="28" name="TextBox 28"/>
          <p:cNvSpPr txBox="1"/>
          <p:nvPr/>
        </p:nvSpPr>
        <p:spPr>
          <a:xfrm>
            <a:off x="4305300" y="6503670"/>
            <a:ext cx="12753975" cy="769620"/>
          </a:xfrm>
          <a:prstGeom prst="rect">
            <a:avLst/>
          </a:prstGeom>
        </p:spPr>
        <p:txBody>
          <a:bodyPr lIns="0" tIns="0" rIns="0" bIns="0" rtlCol="0" anchor="t">
            <a:spAutoFit/>
          </a:bodyPr>
          <a:lstStyle/>
          <a:p>
            <a:pPr algn="l">
              <a:lnSpc>
                <a:spcPts val="2729"/>
              </a:lnSpc>
            </a:pPr>
            <a:r>
              <a:rPr lang="en-US" sz="1950">
                <a:solidFill>
                  <a:srgbClr val="F7F6F2"/>
                </a:solidFill>
                <a:latin typeface="IBM Plex Sans"/>
                <a:ea typeface="IBM Plex Sans"/>
                <a:cs typeface="IBM Plex Sans"/>
                <a:sym typeface="IBM Plex Sans"/>
              </a:rPr>
              <a:t>Oil + water ≤ 13,248 bbl/day (highest of the last 8 history quarters); above it, water = cap − oil. Without the cap, total liquid keeps hitting new highs and 2028 water rises from 87.6M to 101.3M STB.</a:t>
            </a:r>
          </a:p>
        </p:txBody>
      </p:sp>
      <p:sp>
        <p:nvSpPr>
          <p:cNvPr id="29" name="TextBox 29"/>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T3 · History match &amp; forecast</a:t>
            </a:r>
          </a:p>
        </p:txBody>
      </p:sp>
      <p:sp>
        <p:nvSpPr>
          <p:cNvPr id="30" name="TextBox 30"/>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2"/>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The forecast to 2028</a:t>
            </a:r>
          </a:p>
        </p:txBody>
      </p:sp>
      <p:grpSp>
        <p:nvGrpSpPr>
          <p:cNvPr id="3" name="Group 3"/>
          <p:cNvGrpSpPr/>
          <p:nvPr/>
        </p:nvGrpSpPr>
        <p:grpSpPr>
          <a:xfrm>
            <a:off x="1219200" y="2308860"/>
            <a:ext cx="8134350" cy="3825240"/>
            <a:chOff x="0" y="0"/>
            <a:chExt cx="10845800" cy="5100320"/>
          </a:xfrm>
        </p:grpSpPr>
        <p:sp>
          <p:nvSpPr>
            <p:cNvPr id="4" name="Freeform 4"/>
            <p:cNvSpPr/>
            <p:nvPr/>
          </p:nvSpPr>
          <p:spPr>
            <a:xfrm>
              <a:off x="0" y="0"/>
              <a:ext cx="10845800" cy="5100320"/>
            </a:xfrm>
            <a:custGeom>
              <a:avLst/>
              <a:gdLst/>
              <a:ahLst/>
              <a:cxnLst/>
              <a:rect l="l" t="t" r="r" b="b"/>
              <a:pathLst>
                <a:path w="10845800" h="5100320">
                  <a:moveTo>
                    <a:pt x="0" y="203200"/>
                  </a:moveTo>
                  <a:cubicBezTo>
                    <a:pt x="0" y="90932"/>
                    <a:pt x="90932" y="0"/>
                    <a:pt x="203200" y="0"/>
                  </a:cubicBezTo>
                  <a:lnTo>
                    <a:pt x="10642600" y="0"/>
                  </a:lnTo>
                  <a:cubicBezTo>
                    <a:pt x="10754868" y="0"/>
                    <a:pt x="10845800" y="90932"/>
                    <a:pt x="10845800" y="203200"/>
                  </a:cubicBezTo>
                  <a:lnTo>
                    <a:pt x="10845800" y="4897120"/>
                  </a:lnTo>
                  <a:cubicBezTo>
                    <a:pt x="10845800" y="5009388"/>
                    <a:pt x="10754868" y="5100320"/>
                    <a:pt x="10642600" y="5100320"/>
                  </a:cubicBezTo>
                  <a:lnTo>
                    <a:pt x="203200" y="5100320"/>
                  </a:lnTo>
                  <a:cubicBezTo>
                    <a:pt x="90932" y="5100320"/>
                    <a:pt x="0" y="5009388"/>
                    <a:pt x="0" y="4897120"/>
                  </a:cubicBezTo>
                  <a:close/>
                </a:path>
              </a:pathLst>
            </a:custGeom>
            <a:solidFill>
              <a:srgbClr val="14213D"/>
            </a:solidFill>
          </p:spPr>
          <p:txBody>
            <a:bodyPr/>
            <a:lstStyle/>
            <a:p>
              <a:endParaRPr lang="en-MY"/>
            </a:p>
          </p:txBody>
        </p:sp>
      </p:grpSp>
      <p:sp>
        <p:nvSpPr>
          <p:cNvPr id="5" name="TextBox 5"/>
          <p:cNvSpPr txBox="1"/>
          <p:nvPr/>
        </p:nvSpPr>
        <p:spPr>
          <a:xfrm>
            <a:off x="1600200" y="2651760"/>
            <a:ext cx="7593520" cy="396240"/>
          </a:xfrm>
          <a:prstGeom prst="rect">
            <a:avLst/>
          </a:prstGeom>
        </p:spPr>
        <p:txBody>
          <a:bodyPr lIns="0" tIns="0" rIns="0" bIns="0" rtlCol="0" anchor="t">
            <a:spAutoFit/>
          </a:bodyPr>
          <a:lstStyle/>
          <a:p>
            <a:pPr algn="l">
              <a:lnSpc>
                <a:spcPts val="2520"/>
              </a:lnSpc>
            </a:pPr>
            <a:r>
              <a:rPr lang="en-US" sz="1800" b="1" spc="149">
                <a:solidFill>
                  <a:srgbClr val="E07A2F"/>
                </a:solidFill>
                <a:latin typeface="IBM Plex Sans Bold"/>
                <a:ea typeface="IBM Plex Sans Bold"/>
                <a:cs typeface="IBM Plex Sans Bold"/>
                <a:sym typeface="IBM Plex Sans Bold"/>
              </a:rPr>
              <a:t>MOST LIKELY (P50), CUMULATIVE BY 2028</a:t>
            </a:r>
          </a:p>
        </p:txBody>
      </p:sp>
      <p:sp>
        <p:nvSpPr>
          <p:cNvPr id="6" name="TextBox 6"/>
          <p:cNvSpPr txBox="1"/>
          <p:nvPr/>
        </p:nvSpPr>
        <p:spPr>
          <a:xfrm>
            <a:off x="1600200" y="3295650"/>
            <a:ext cx="7593520" cy="819150"/>
          </a:xfrm>
          <a:prstGeom prst="rect">
            <a:avLst/>
          </a:prstGeom>
        </p:spPr>
        <p:txBody>
          <a:bodyPr lIns="0" tIns="0" rIns="0" bIns="0" rtlCol="0" anchor="t">
            <a:spAutoFit/>
          </a:bodyPr>
          <a:lstStyle/>
          <a:p>
            <a:pPr algn="l">
              <a:lnSpc>
                <a:spcPts val="7200"/>
              </a:lnSpc>
            </a:pPr>
            <a:r>
              <a:rPr lang="en-US" sz="7200" b="1">
                <a:solidFill>
                  <a:srgbClr val="F7F6F2"/>
                </a:solidFill>
                <a:latin typeface="Rubik Bold"/>
                <a:ea typeface="Rubik Bold"/>
                <a:cs typeface="Rubik Bold"/>
                <a:sym typeface="Rubik Bold"/>
              </a:rPr>
              <a:t>59.7M STB</a:t>
            </a:r>
          </a:p>
        </p:txBody>
      </p:sp>
      <p:sp>
        <p:nvSpPr>
          <p:cNvPr id="7" name="TextBox 7"/>
          <p:cNvSpPr txBox="1"/>
          <p:nvPr/>
        </p:nvSpPr>
        <p:spPr>
          <a:xfrm>
            <a:off x="1600200" y="4191000"/>
            <a:ext cx="7593520" cy="476250"/>
          </a:xfrm>
          <a:prstGeom prst="rect">
            <a:avLst/>
          </a:prstGeom>
        </p:spPr>
        <p:txBody>
          <a:bodyPr lIns="0" tIns="0" rIns="0" bIns="0" rtlCol="0" anchor="t">
            <a:spAutoFit/>
          </a:bodyPr>
          <a:lstStyle/>
          <a:p>
            <a:pPr algn="l">
              <a:lnSpc>
                <a:spcPts val="3149"/>
              </a:lnSpc>
            </a:pPr>
            <a:r>
              <a:rPr lang="en-US" sz="2250">
                <a:solidFill>
                  <a:srgbClr val="C9D3E0"/>
                </a:solidFill>
                <a:latin typeface="IBM Plex Sans"/>
                <a:ea typeface="IBM Plex Sans"/>
                <a:cs typeface="IBM Plex Sans"/>
                <a:sym typeface="IBM Plex Sans"/>
              </a:rPr>
              <a:t>oil</a:t>
            </a:r>
          </a:p>
        </p:txBody>
      </p:sp>
      <p:sp>
        <p:nvSpPr>
          <p:cNvPr id="8" name="TextBox 8"/>
          <p:cNvSpPr txBox="1"/>
          <p:nvPr/>
        </p:nvSpPr>
        <p:spPr>
          <a:xfrm>
            <a:off x="1600200" y="4705350"/>
            <a:ext cx="2782310" cy="701040"/>
          </a:xfrm>
          <a:prstGeom prst="rect">
            <a:avLst/>
          </a:prstGeom>
        </p:spPr>
        <p:txBody>
          <a:bodyPr lIns="0" tIns="0" rIns="0" bIns="0" rtlCol="0" anchor="t">
            <a:spAutoFit/>
          </a:bodyPr>
          <a:lstStyle/>
          <a:p>
            <a:pPr algn="l">
              <a:lnSpc>
                <a:spcPts val="4620"/>
              </a:lnSpc>
            </a:pPr>
            <a:r>
              <a:rPr lang="en-US" sz="3300" b="1">
                <a:solidFill>
                  <a:srgbClr val="F7F6F2"/>
                </a:solidFill>
                <a:latin typeface="Rubik Bold"/>
                <a:ea typeface="Rubik Bold"/>
                <a:cs typeface="Rubik Bold"/>
                <a:sym typeface="Rubik Bold"/>
              </a:rPr>
              <a:t>21.7M MSCF</a:t>
            </a:r>
          </a:p>
        </p:txBody>
      </p:sp>
      <p:sp>
        <p:nvSpPr>
          <p:cNvPr id="9" name="TextBox 9"/>
          <p:cNvSpPr txBox="1"/>
          <p:nvPr/>
        </p:nvSpPr>
        <p:spPr>
          <a:xfrm>
            <a:off x="1600200" y="5368290"/>
            <a:ext cx="2477510" cy="422910"/>
          </a:xfrm>
          <a:prstGeom prst="rect">
            <a:avLst/>
          </a:prstGeom>
        </p:spPr>
        <p:txBody>
          <a:bodyPr lIns="0" tIns="0" rIns="0" bIns="0" rtlCol="0" anchor="t">
            <a:spAutoFit/>
          </a:bodyPr>
          <a:lstStyle/>
          <a:p>
            <a:pPr algn="l">
              <a:lnSpc>
                <a:spcPts val="2729"/>
              </a:lnSpc>
            </a:pPr>
            <a:r>
              <a:rPr lang="en-US" sz="1950">
                <a:solidFill>
                  <a:srgbClr val="C9D3E0"/>
                </a:solidFill>
                <a:latin typeface="IBM Plex Sans"/>
                <a:ea typeface="IBM Plex Sans"/>
                <a:cs typeface="IBM Plex Sans"/>
                <a:sym typeface="IBM Plex Sans"/>
              </a:rPr>
              <a:t>gas</a:t>
            </a:r>
          </a:p>
        </p:txBody>
      </p:sp>
      <p:sp>
        <p:nvSpPr>
          <p:cNvPr id="10" name="TextBox 10"/>
          <p:cNvSpPr txBox="1"/>
          <p:nvPr/>
        </p:nvSpPr>
        <p:spPr>
          <a:xfrm>
            <a:off x="4382510" y="4705350"/>
            <a:ext cx="2548966" cy="701040"/>
          </a:xfrm>
          <a:prstGeom prst="rect">
            <a:avLst/>
          </a:prstGeom>
        </p:spPr>
        <p:txBody>
          <a:bodyPr lIns="0" tIns="0" rIns="0" bIns="0" rtlCol="0" anchor="t">
            <a:spAutoFit/>
          </a:bodyPr>
          <a:lstStyle/>
          <a:p>
            <a:pPr algn="l">
              <a:lnSpc>
                <a:spcPts val="4620"/>
              </a:lnSpc>
            </a:pPr>
            <a:r>
              <a:rPr lang="en-US" sz="3300" b="1">
                <a:solidFill>
                  <a:srgbClr val="F7F6F2"/>
                </a:solidFill>
                <a:latin typeface="Rubik Bold"/>
                <a:ea typeface="Rubik Bold"/>
                <a:cs typeface="Rubik Bold"/>
                <a:sym typeface="Rubik Bold"/>
              </a:rPr>
              <a:t>87.6M STB</a:t>
            </a:r>
          </a:p>
        </p:txBody>
      </p:sp>
      <p:sp>
        <p:nvSpPr>
          <p:cNvPr id="11" name="TextBox 11"/>
          <p:cNvSpPr txBox="1"/>
          <p:nvPr/>
        </p:nvSpPr>
        <p:spPr>
          <a:xfrm>
            <a:off x="4382510" y="5368290"/>
            <a:ext cx="2200332" cy="422910"/>
          </a:xfrm>
          <a:prstGeom prst="rect">
            <a:avLst/>
          </a:prstGeom>
        </p:spPr>
        <p:txBody>
          <a:bodyPr lIns="0" tIns="0" rIns="0" bIns="0" rtlCol="0" anchor="t">
            <a:spAutoFit/>
          </a:bodyPr>
          <a:lstStyle/>
          <a:p>
            <a:pPr algn="l">
              <a:lnSpc>
                <a:spcPts val="2729"/>
              </a:lnSpc>
            </a:pPr>
            <a:r>
              <a:rPr lang="en-US" sz="1950">
                <a:solidFill>
                  <a:srgbClr val="C9D3E0"/>
                </a:solidFill>
                <a:latin typeface="IBM Plex Sans"/>
                <a:ea typeface="IBM Plex Sans"/>
                <a:cs typeface="IBM Plex Sans"/>
                <a:sym typeface="IBM Plex Sans"/>
              </a:rPr>
              <a:t>water</a:t>
            </a:r>
          </a:p>
        </p:txBody>
      </p:sp>
      <p:grpSp>
        <p:nvGrpSpPr>
          <p:cNvPr id="12" name="Group 12"/>
          <p:cNvGrpSpPr/>
          <p:nvPr/>
        </p:nvGrpSpPr>
        <p:grpSpPr>
          <a:xfrm>
            <a:off x="9696450" y="2308860"/>
            <a:ext cx="7372350" cy="1744980"/>
            <a:chOff x="0" y="0"/>
            <a:chExt cx="9829800" cy="2326640"/>
          </a:xfrm>
        </p:grpSpPr>
        <p:sp>
          <p:nvSpPr>
            <p:cNvPr id="13" name="Freeform 13"/>
            <p:cNvSpPr/>
            <p:nvPr/>
          </p:nvSpPr>
          <p:spPr>
            <a:xfrm>
              <a:off x="0" y="0"/>
              <a:ext cx="9829800" cy="2326640"/>
            </a:xfrm>
            <a:custGeom>
              <a:avLst/>
              <a:gdLst/>
              <a:ahLst/>
              <a:cxnLst/>
              <a:rect l="l" t="t" r="r" b="b"/>
              <a:pathLst>
                <a:path w="9829800" h="2326640">
                  <a:moveTo>
                    <a:pt x="0" y="197866"/>
                  </a:moveTo>
                  <a:cubicBezTo>
                    <a:pt x="0" y="88646"/>
                    <a:pt x="88646" y="0"/>
                    <a:pt x="197866" y="0"/>
                  </a:cubicBezTo>
                  <a:lnTo>
                    <a:pt x="9631934" y="0"/>
                  </a:lnTo>
                  <a:cubicBezTo>
                    <a:pt x="9741154" y="0"/>
                    <a:pt x="9829800" y="88646"/>
                    <a:pt x="9829800" y="197866"/>
                  </a:cubicBezTo>
                  <a:lnTo>
                    <a:pt x="9829800" y="2128774"/>
                  </a:lnTo>
                  <a:cubicBezTo>
                    <a:pt x="9829800" y="2238121"/>
                    <a:pt x="9741154" y="2326640"/>
                    <a:pt x="9631934" y="2326640"/>
                  </a:cubicBezTo>
                  <a:lnTo>
                    <a:pt x="197866" y="2326640"/>
                  </a:lnTo>
                  <a:cubicBezTo>
                    <a:pt x="88646" y="2326640"/>
                    <a:pt x="0" y="2237994"/>
                    <a:pt x="0" y="2128774"/>
                  </a:cubicBezTo>
                  <a:close/>
                </a:path>
              </a:pathLst>
            </a:custGeom>
            <a:solidFill>
              <a:srgbClr val="FFFFFF"/>
            </a:solidFill>
            <a:ln w="9525" cap="sq">
              <a:solidFill>
                <a:srgbClr val="DCE1E8"/>
              </a:solidFill>
              <a:prstDash val="solid"/>
              <a:miter/>
            </a:ln>
          </p:spPr>
          <p:txBody>
            <a:bodyPr/>
            <a:lstStyle/>
            <a:p>
              <a:endParaRPr lang="en-MY"/>
            </a:p>
          </p:txBody>
        </p:sp>
      </p:grpSp>
      <p:sp>
        <p:nvSpPr>
          <p:cNvPr id="14" name="TextBox 14"/>
          <p:cNvSpPr txBox="1"/>
          <p:nvPr/>
        </p:nvSpPr>
        <p:spPr>
          <a:xfrm>
            <a:off x="10008870" y="2449830"/>
            <a:ext cx="1123950" cy="575310"/>
          </a:xfrm>
          <a:prstGeom prst="rect">
            <a:avLst/>
          </a:prstGeom>
        </p:spPr>
        <p:txBody>
          <a:bodyPr lIns="0" tIns="0" rIns="0" bIns="0" rtlCol="0" anchor="t">
            <a:spAutoFit/>
          </a:bodyPr>
          <a:lstStyle/>
          <a:p>
            <a:pPr algn="l">
              <a:lnSpc>
                <a:spcPts val="3779"/>
              </a:lnSpc>
            </a:pPr>
            <a:r>
              <a:rPr lang="en-US" sz="2700" b="1">
                <a:solidFill>
                  <a:srgbClr val="B5561A"/>
                </a:solidFill>
                <a:latin typeface="Rubik Bold"/>
                <a:ea typeface="Rubik Bold"/>
                <a:cs typeface="Rubik Bold"/>
                <a:sym typeface="Rubik Bold"/>
              </a:rPr>
              <a:t>P10</a:t>
            </a:r>
          </a:p>
        </p:txBody>
      </p:sp>
      <p:sp>
        <p:nvSpPr>
          <p:cNvPr id="15" name="TextBox 15"/>
          <p:cNvSpPr txBox="1"/>
          <p:nvPr/>
        </p:nvSpPr>
        <p:spPr>
          <a:xfrm>
            <a:off x="11285220" y="2512695"/>
            <a:ext cx="2324148" cy="45910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high (optimistic)</a:t>
            </a:r>
          </a:p>
        </p:txBody>
      </p:sp>
      <p:sp>
        <p:nvSpPr>
          <p:cNvPr id="16" name="AutoShape 16"/>
          <p:cNvSpPr/>
          <p:nvPr/>
        </p:nvSpPr>
        <p:spPr>
          <a:xfrm rot="4440">
            <a:off x="9699307" y="3177540"/>
            <a:ext cx="7366645" cy="0"/>
          </a:xfrm>
          <a:prstGeom prst="line">
            <a:avLst/>
          </a:prstGeom>
          <a:ln w="9525" cap="rnd">
            <a:solidFill>
              <a:srgbClr val="DCE1E8"/>
            </a:solidFill>
            <a:prstDash val="solid"/>
            <a:headEnd type="none" w="sm" len="sm"/>
            <a:tailEnd type="none" w="sm" len="sm"/>
          </a:ln>
        </p:spPr>
        <p:txBody>
          <a:bodyPr/>
          <a:lstStyle/>
          <a:p>
            <a:endParaRPr lang="en-MY"/>
          </a:p>
        </p:txBody>
      </p:sp>
      <p:sp>
        <p:nvSpPr>
          <p:cNvPr id="17" name="TextBox 17"/>
          <p:cNvSpPr txBox="1"/>
          <p:nvPr/>
        </p:nvSpPr>
        <p:spPr>
          <a:xfrm>
            <a:off x="10008870" y="3318510"/>
            <a:ext cx="1123950" cy="575310"/>
          </a:xfrm>
          <a:prstGeom prst="rect">
            <a:avLst/>
          </a:prstGeom>
        </p:spPr>
        <p:txBody>
          <a:bodyPr lIns="0" tIns="0" rIns="0" bIns="0" rtlCol="0" anchor="t">
            <a:spAutoFit/>
          </a:bodyPr>
          <a:lstStyle/>
          <a:p>
            <a:pPr algn="l">
              <a:lnSpc>
                <a:spcPts val="3779"/>
              </a:lnSpc>
            </a:pPr>
            <a:r>
              <a:rPr lang="en-US" sz="2700" b="1">
                <a:solidFill>
                  <a:srgbClr val="2E6FB0"/>
                </a:solidFill>
                <a:latin typeface="Rubik Bold"/>
                <a:ea typeface="Rubik Bold"/>
                <a:cs typeface="Rubik Bold"/>
                <a:sym typeface="Rubik Bold"/>
              </a:rPr>
              <a:t>P90</a:t>
            </a:r>
          </a:p>
        </p:txBody>
      </p:sp>
      <p:sp>
        <p:nvSpPr>
          <p:cNvPr id="18" name="TextBox 18"/>
          <p:cNvSpPr txBox="1"/>
          <p:nvPr/>
        </p:nvSpPr>
        <p:spPr>
          <a:xfrm>
            <a:off x="11285220" y="3381375"/>
            <a:ext cx="2621185" cy="45910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low (conservative)</a:t>
            </a:r>
          </a:p>
        </p:txBody>
      </p:sp>
      <p:grpSp>
        <p:nvGrpSpPr>
          <p:cNvPr id="19" name="Group 19"/>
          <p:cNvGrpSpPr/>
          <p:nvPr/>
        </p:nvGrpSpPr>
        <p:grpSpPr>
          <a:xfrm>
            <a:off x="9696450" y="4244340"/>
            <a:ext cx="7372350" cy="1653540"/>
            <a:chOff x="0" y="0"/>
            <a:chExt cx="9829800" cy="2204720"/>
          </a:xfrm>
        </p:grpSpPr>
        <p:sp>
          <p:nvSpPr>
            <p:cNvPr id="20" name="Freeform 20"/>
            <p:cNvSpPr/>
            <p:nvPr/>
          </p:nvSpPr>
          <p:spPr>
            <a:xfrm>
              <a:off x="0" y="0"/>
              <a:ext cx="9829800" cy="2204720"/>
            </a:xfrm>
            <a:custGeom>
              <a:avLst/>
              <a:gdLst/>
              <a:ahLst/>
              <a:cxnLst/>
              <a:rect l="l" t="t" r="r" b="b"/>
              <a:pathLst>
                <a:path w="9829800" h="2204720">
                  <a:moveTo>
                    <a:pt x="0" y="203200"/>
                  </a:moveTo>
                  <a:cubicBezTo>
                    <a:pt x="0" y="90932"/>
                    <a:pt x="90932" y="0"/>
                    <a:pt x="203200" y="0"/>
                  </a:cubicBezTo>
                  <a:lnTo>
                    <a:pt x="9626600" y="0"/>
                  </a:lnTo>
                  <a:cubicBezTo>
                    <a:pt x="9738868" y="0"/>
                    <a:pt x="9829800" y="90932"/>
                    <a:pt x="9829800" y="203200"/>
                  </a:cubicBezTo>
                  <a:lnTo>
                    <a:pt x="9829800" y="2001520"/>
                  </a:lnTo>
                  <a:cubicBezTo>
                    <a:pt x="9829800" y="2113788"/>
                    <a:pt x="9738868" y="2204720"/>
                    <a:pt x="9626600" y="2204720"/>
                  </a:cubicBezTo>
                  <a:lnTo>
                    <a:pt x="203200" y="2204720"/>
                  </a:lnTo>
                  <a:cubicBezTo>
                    <a:pt x="90932" y="2204720"/>
                    <a:pt x="0" y="2113788"/>
                    <a:pt x="0" y="2001520"/>
                  </a:cubicBezTo>
                  <a:close/>
                </a:path>
              </a:pathLst>
            </a:custGeom>
            <a:solidFill>
              <a:srgbClr val="FDF1E7"/>
            </a:solidFill>
          </p:spPr>
          <p:txBody>
            <a:bodyPr/>
            <a:lstStyle/>
            <a:p>
              <a:endParaRPr lang="en-MY"/>
            </a:p>
          </p:txBody>
        </p:sp>
        <p:sp>
          <p:nvSpPr>
            <p:cNvPr id="21" name="TextBox 21"/>
            <p:cNvSpPr txBox="1"/>
            <p:nvPr/>
          </p:nvSpPr>
          <p:spPr>
            <a:xfrm>
              <a:off x="0" y="-47625"/>
              <a:ext cx="9829800" cy="2252345"/>
            </a:xfrm>
            <a:prstGeom prst="rect">
              <a:avLst/>
            </a:prstGeom>
          </p:spPr>
          <p:txBody>
            <a:bodyPr lIns="50800" tIns="50800" rIns="50800" bIns="50800" rtlCol="0" anchor="t"/>
            <a:lstStyle/>
            <a:p>
              <a:pPr algn="l">
                <a:lnSpc>
                  <a:spcPts val="2940"/>
                </a:lnSpc>
              </a:pPr>
              <a:r>
                <a:rPr lang="en-US" sz="2100" b="1">
                  <a:solidFill>
                    <a:srgbClr val="3D4A5C"/>
                  </a:solidFill>
                  <a:latin typeface="IBM Plex Sans Bold"/>
                  <a:ea typeface="IBM Plex Sans Bold"/>
                  <a:cs typeface="IBM Plex Sans Bold"/>
                  <a:sym typeface="IBM Plex Sans Bold"/>
                </a:rPr>
                <a:t>Warning:</a:t>
              </a:r>
              <a:r>
                <a:rPr lang="en-US" sz="2100">
                  <a:solidFill>
                    <a:srgbClr val="3D4A5C"/>
                  </a:solidFill>
                  <a:latin typeface="IBM Plex Sans"/>
                  <a:ea typeface="IBM Plex Sans"/>
                  <a:cs typeface="IBM Plex Sans"/>
                  <a:sym typeface="IBM Plex Sans"/>
                </a:rPr>
                <a:t> the 10 cases differ by only ~0.6%. They fit the same history, so our method cannot see their differences.</a:t>
              </a:r>
            </a:p>
          </p:txBody>
        </p:sp>
      </p:grpSp>
      <p:sp>
        <p:nvSpPr>
          <p:cNvPr id="22" name="TextBox 22"/>
          <p:cNvSpPr txBox="1"/>
          <p:nvPr/>
        </p:nvSpPr>
        <p:spPr>
          <a:xfrm>
            <a:off x="1219200" y="6515100"/>
            <a:ext cx="16325088" cy="396240"/>
          </a:xfrm>
          <a:prstGeom prst="rect">
            <a:avLst/>
          </a:prstGeom>
        </p:spPr>
        <p:txBody>
          <a:bodyPr lIns="0" tIns="0" rIns="0" bIns="0" rtlCol="0" anchor="t">
            <a:spAutoFit/>
          </a:bodyPr>
          <a:lstStyle/>
          <a:p>
            <a:pPr algn="l">
              <a:lnSpc>
                <a:spcPts val="2520"/>
              </a:lnSpc>
            </a:pPr>
            <a:r>
              <a:rPr lang="en-US" sz="1800">
                <a:solidFill>
                  <a:srgbClr val="5A6678"/>
                </a:solidFill>
                <a:latin typeface="IBM Plex Sans"/>
                <a:ea typeface="IBM Plex Sans"/>
                <a:cs typeface="IBM Plex Sans"/>
                <a:sym typeface="IBM Plex Sans"/>
              </a:rPr>
              <a:t>Main scenario, median of our 10 cases; all values proxy-estimated.</a:t>
            </a:r>
          </a:p>
        </p:txBody>
      </p:sp>
      <p:sp>
        <p:nvSpPr>
          <p:cNvPr id="23" name="TextBox 23"/>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T3 · History match &amp; forecast</a:t>
            </a:r>
          </a:p>
        </p:txBody>
      </p:sp>
      <p:sp>
        <p:nvSpPr>
          <p:cNvPr id="24" name="TextBox 24"/>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CEFF3"/>
        </a:solidFill>
        <a:effectLst/>
      </p:bgPr>
    </p:bg>
    <p:spTree>
      <p:nvGrpSpPr>
        <p:cNvPr id="1" name=""/>
        <p:cNvGrpSpPr/>
        <p:nvPr/>
      </p:nvGrpSpPr>
      <p:grpSpPr>
        <a:xfrm>
          <a:off x="0" y="0"/>
          <a:ext cx="0" cy="0"/>
          <a:chOff x="0" y="0"/>
          <a:chExt cx="0" cy="0"/>
        </a:xfrm>
      </p:grpSpPr>
      <p:sp>
        <p:nvSpPr>
          <p:cNvPr id="2" name="TextBox 2"/>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Main limitation: too much oil, too little water</a:t>
            </a:r>
          </a:p>
        </p:txBody>
      </p:sp>
      <p:grpSp>
        <p:nvGrpSpPr>
          <p:cNvPr id="3" name="Group 3"/>
          <p:cNvGrpSpPr/>
          <p:nvPr/>
        </p:nvGrpSpPr>
        <p:grpSpPr>
          <a:xfrm>
            <a:off x="1219200" y="2308860"/>
            <a:ext cx="7772400" cy="2164080"/>
            <a:chOff x="0" y="0"/>
            <a:chExt cx="10363200" cy="2885440"/>
          </a:xfrm>
        </p:grpSpPr>
        <p:sp>
          <p:nvSpPr>
            <p:cNvPr id="4" name="Freeform 4"/>
            <p:cNvSpPr/>
            <p:nvPr/>
          </p:nvSpPr>
          <p:spPr>
            <a:xfrm>
              <a:off x="0" y="0"/>
              <a:ext cx="10363200" cy="2885440"/>
            </a:xfrm>
            <a:custGeom>
              <a:avLst/>
              <a:gdLst/>
              <a:ahLst/>
              <a:cxnLst/>
              <a:rect l="l" t="t" r="r" b="b"/>
              <a:pathLst>
                <a:path w="10363200" h="2885440">
                  <a:moveTo>
                    <a:pt x="0" y="203200"/>
                  </a:moveTo>
                  <a:cubicBezTo>
                    <a:pt x="0" y="90932"/>
                    <a:pt x="90932" y="0"/>
                    <a:pt x="203200" y="0"/>
                  </a:cubicBezTo>
                  <a:lnTo>
                    <a:pt x="10160000" y="0"/>
                  </a:lnTo>
                  <a:cubicBezTo>
                    <a:pt x="10272268" y="0"/>
                    <a:pt x="10363200" y="90932"/>
                    <a:pt x="10363200" y="203200"/>
                  </a:cubicBezTo>
                  <a:lnTo>
                    <a:pt x="10363200" y="2682240"/>
                  </a:lnTo>
                  <a:cubicBezTo>
                    <a:pt x="10363200" y="2794508"/>
                    <a:pt x="10272268" y="2885440"/>
                    <a:pt x="10160000" y="2885440"/>
                  </a:cubicBezTo>
                  <a:lnTo>
                    <a:pt x="203200" y="2885440"/>
                  </a:lnTo>
                  <a:cubicBezTo>
                    <a:pt x="90932" y="2885440"/>
                    <a:pt x="0" y="2794508"/>
                    <a:pt x="0" y="2682240"/>
                  </a:cubicBezTo>
                  <a:close/>
                </a:path>
              </a:pathLst>
            </a:custGeom>
            <a:solidFill>
              <a:srgbClr val="FFFFFF"/>
            </a:solidFill>
          </p:spPr>
          <p:txBody>
            <a:bodyPr/>
            <a:lstStyle/>
            <a:p>
              <a:endParaRPr lang="en-MY"/>
            </a:p>
          </p:txBody>
        </p:sp>
      </p:grpSp>
      <p:grpSp>
        <p:nvGrpSpPr>
          <p:cNvPr id="5" name="Group 5"/>
          <p:cNvGrpSpPr/>
          <p:nvPr/>
        </p:nvGrpSpPr>
        <p:grpSpPr>
          <a:xfrm>
            <a:off x="1219200" y="2308860"/>
            <a:ext cx="7772400" cy="2164080"/>
            <a:chOff x="0" y="0"/>
            <a:chExt cx="10363200" cy="2885440"/>
          </a:xfrm>
        </p:grpSpPr>
        <p:sp>
          <p:nvSpPr>
            <p:cNvPr id="6" name="Freeform 6"/>
            <p:cNvSpPr/>
            <p:nvPr/>
          </p:nvSpPr>
          <p:spPr>
            <a:xfrm>
              <a:off x="0" y="0"/>
              <a:ext cx="355600" cy="2885440"/>
            </a:xfrm>
            <a:custGeom>
              <a:avLst/>
              <a:gdLst/>
              <a:ahLst/>
              <a:cxnLst/>
              <a:rect l="l" t="t" r="r" b="b"/>
              <a:pathLst>
                <a:path w="355600" h="2885440">
                  <a:moveTo>
                    <a:pt x="203200" y="2885440"/>
                  </a:moveTo>
                  <a:cubicBezTo>
                    <a:pt x="90932" y="2885440"/>
                    <a:pt x="0" y="2794508"/>
                    <a:pt x="0" y="2682240"/>
                  </a:cubicBezTo>
                  <a:lnTo>
                    <a:pt x="0" y="203200"/>
                  </a:lnTo>
                  <a:cubicBezTo>
                    <a:pt x="0" y="90932"/>
                    <a:pt x="90932" y="0"/>
                    <a:pt x="203200" y="0"/>
                  </a:cubicBezTo>
                  <a:cubicBezTo>
                    <a:pt x="90932" y="0"/>
                    <a:pt x="0" y="90932"/>
                    <a:pt x="0" y="203200"/>
                  </a:cubicBezTo>
                  <a:lnTo>
                    <a:pt x="152400" y="2682240"/>
                  </a:lnTo>
                  <a:cubicBezTo>
                    <a:pt x="152400" y="2794508"/>
                    <a:pt x="243332" y="2885440"/>
                    <a:pt x="355600" y="2885440"/>
                  </a:cubicBezTo>
                  <a:close/>
                </a:path>
              </a:pathLst>
            </a:custGeom>
            <a:solidFill>
              <a:srgbClr val="E07A2F"/>
            </a:solidFill>
          </p:spPr>
          <p:txBody>
            <a:bodyPr/>
            <a:lstStyle/>
            <a:p>
              <a:endParaRPr lang="en-MY"/>
            </a:p>
          </p:txBody>
        </p:sp>
      </p:grpSp>
      <p:sp>
        <p:nvSpPr>
          <p:cNvPr id="7" name="TextBox 7"/>
          <p:cNvSpPr txBox="1"/>
          <p:nvPr/>
        </p:nvSpPr>
        <p:spPr>
          <a:xfrm>
            <a:off x="1714500" y="2642235"/>
            <a:ext cx="7102983" cy="459105"/>
          </a:xfrm>
          <a:prstGeom prst="rect">
            <a:avLst/>
          </a:prstGeom>
        </p:spPr>
        <p:txBody>
          <a:bodyPr lIns="0" tIns="0" rIns="0" bIns="0" rtlCol="0" anchor="t">
            <a:spAutoFit/>
          </a:bodyPr>
          <a:lstStyle/>
          <a:p>
            <a:pPr algn="l">
              <a:lnSpc>
                <a:spcPts val="2940"/>
              </a:lnSpc>
            </a:pPr>
            <a:r>
              <a:rPr lang="en-US" sz="2100" b="1">
                <a:solidFill>
                  <a:srgbClr val="14213D"/>
                </a:solidFill>
                <a:latin typeface="IBM Plex Sans Bold"/>
                <a:ea typeface="IBM Plex Sans Bold"/>
                <a:cs typeface="IBM Plex Sans Bold"/>
                <a:sym typeface="IBM Plex Sans Bold"/>
              </a:rPr>
              <a:t>Oil, end of history</a:t>
            </a:r>
          </a:p>
        </p:txBody>
      </p:sp>
      <p:sp>
        <p:nvSpPr>
          <p:cNvPr id="8" name="TextBox 8"/>
          <p:cNvSpPr txBox="1"/>
          <p:nvPr/>
        </p:nvSpPr>
        <p:spPr>
          <a:xfrm>
            <a:off x="1714500" y="3310890"/>
            <a:ext cx="7102983" cy="819150"/>
          </a:xfrm>
          <a:prstGeom prst="rect">
            <a:avLst/>
          </a:prstGeom>
        </p:spPr>
        <p:txBody>
          <a:bodyPr lIns="0" tIns="0" rIns="0" bIns="0" rtlCol="0" anchor="t">
            <a:spAutoFit/>
          </a:bodyPr>
          <a:lstStyle/>
          <a:p>
            <a:pPr algn="l">
              <a:lnSpc>
                <a:spcPts val="7200"/>
              </a:lnSpc>
            </a:pPr>
            <a:r>
              <a:rPr lang="en-US" sz="7200" b="1">
                <a:solidFill>
                  <a:srgbClr val="B5561A"/>
                </a:solidFill>
                <a:latin typeface="Rubik Bold"/>
                <a:ea typeface="Rubik Bold"/>
                <a:cs typeface="Rubik Bold"/>
                <a:sym typeface="Rubik Bold"/>
              </a:rPr>
              <a:t>+12–15%</a:t>
            </a:r>
          </a:p>
        </p:txBody>
      </p:sp>
      <p:grpSp>
        <p:nvGrpSpPr>
          <p:cNvPr id="9" name="Group 9"/>
          <p:cNvGrpSpPr/>
          <p:nvPr/>
        </p:nvGrpSpPr>
        <p:grpSpPr>
          <a:xfrm>
            <a:off x="9296400" y="2308860"/>
            <a:ext cx="7772400" cy="2164080"/>
            <a:chOff x="0" y="0"/>
            <a:chExt cx="10363200" cy="2885440"/>
          </a:xfrm>
        </p:grpSpPr>
        <p:sp>
          <p:nvSpPr>
            <p:cNvPr id="10" name="Freeform 10"/>
            <p:cNvSpPr/>
            <p:nvPr/>
          </p:nvSpPr>
          <p:spPr>
            <a:xfrm>
              <a:off x="0" y="0"/>
              <a:ext cx="10363200" cy="2885440"/>
            </a:xfrm>
            <a:custGeom>
              <a:avLst/>
              <a:gdLst/>
              <a:ahLst/>
              <a:cxnLst/>
              <a:rect l="l" t="t" r="r" b="b"/>
              <a:pathLst>
                <a:path w="10363200" h="2885440">
                  <a:moveTo>
                    <a:pt x="0" y="203200"/>
                  </a:moveTo>
                  <a:cubicBezTo>
                    <a:pt x="0" y="90932"/>
                    <a:pt x="90932" y="0"/>
                    <a:pt x="203200" y="0"/>
                  </a:cubicBezTo>
                  <a:lnTo>
                    <a:pt x="10160000" y="0"/>
                  </a:lnTo>
                  <a:cubicBezTo>
                    <a:pt x="10272268" y="0"/>
                    <a:pt x="10363200" y="90932"/>
                    <a:pt x="10363200" y="203200"/>
                  </a:cubicBezTo>
                  <a:lnTo>
                    <a:pt x="10363200" y="2682240"/>
                  </a:lnTo>
                  <a:cubicBezTo>
                    <a:pt x="10363200" y="2794508"/>
                    <a:pt x="10272268" y="2885440"/>
                    <a:pt x="10160000" y="2885440"/>
                  </a:cubicBezTo>
                  <a:lnTo>
                    <a:pt x="203200" y="2885440"/>
                  </a:lnTo>
                  <a:cubicBezTo>
                    <a:pt x="90932" y="2885440"/>
                    <a:pt x="0" y="2794508"/>
                    <a:pt x="0" y="2682240"/>
                  </a:cubicBezTo>
                  <a:close/>
                </a:path>
              </a:pathLst>
            </a:custGeom>
            <a:solidFill>
              <a:srgbClr val="FFFFFF"/>
            </a:solidFill>
          </p:spPr>
          <p:txBody>
            <a:bodyPr/>
            <a:lstStyle/>
            <a:p>
              <a:endParaRPr lang="en-MY"/>
            </a:p>
          </p:txBody>
        </p:sp>
      </p:grpSp>
      <p:grpSp>
        <p:nvGrpSpPr>
          <p:cNvPr id="11" name="Group 11"/>
          <p:cNvGrpSpPr/>
          <p:nvPr/>
        </p:nvGrpSpPr>
        <p:grpSpPr>
          <a:xfrm>
            <a:off x="9296400" y="2308860"/>
            <a:ext cx="7772400" cy="2164080"/>
            <a:chOff x="0" y="0"/>
            <a:chExt cx="10363200" cy="2885440"/>
          </a:xfrm>
        </p:grpSpPr>
        <p:sp>
          <p:nvSpPr>
            <p:cNvPr id="12" name="Freeform 12"/>
            <p:cNvSpPr/>
            <p:nvPr/>
          </p:nvSpPr>
          <p:spPr>
            <a:xfrm>
              <a:off x="0" y="0"/>
              <a:ext cx="355600" cy="2885440"/>
            </a:xfrm>
            <a:custGeom>
              <a:avLst/>
              <a:gdLst/>
              <a:ahLst/>
              <a:cxnLst/>
              <a:rect l="l" t="t" r="r" b="b"/>
              <a:pathLst>
                <a:path w="355600" h="2885440">
                  <a:moveTo>
                    <a:pt x="203200" y="2885440"/>
                  </a:moveTo>
                  <a:cubicBezTo>
                    <a:pt x="90932" y="2885440"/>
                    <a:pt x="0" y="2794508"/>
                    <a:pt x="0" y="2682240"/>
                  </a:cubicBezTo>
                  <a:lnTo>
                    <a:pt x="0" y="203200"/>
                  </a:lnTo>
                  <a:cubicBezTo>
                    <a:pt x="0" y="90932"/>
                    <a:pt x="90932" y="0"/>
                    <a:pt x="203200" y="0"/>
                  </a:cubicBezTo>
                  <a:cubicBezTo>
                    <a:pt x="90932" y="0"/>
                    <a:pt x="0" y="90932"/>
                    <a:pt x="0" y="203200"/>
                  </a:cubicBezTo>
                  <a:lnTo>
                    <a:pt x="152400" y="2682240"/>
                  </a:lnTo>
                  <a:cubicBezTo>
                    <a:pt x="152400" y="2794508"/>
                    <a:pt x="243332" y="2885440"/>
                    <a:pt x="355600" y="2885440"/>
                  </a:cubicBezTo>
                  <a:close/>
                </a:path>
              </a:pathLst>
            </a:custGeom>
            <a:solidFill>
              <a:srgbClr val="2E6FB0"/>
            </a:solidFill>
          </p:spPr>
          <p:txBody>
            <a:bodyPr/>
            <a:lstStyle/>
            <a:p>
              <a:endParaRPr lang="en-MY"/>
            </a:p>
          </p:txBody>
        </p:sp>
      </p:grpSp>
      <p:sp>
        <p:nvSpPr>
          <p:cNvPr id="13" name="TextBox 13"/>
          <p:cNvSpPr txBox="1"/>
          <p:nvPr/>
        </p:nvSpPr>
        <p:spPr>
          <a:xfrm>
            <a:off x="9791700" y="2642235"/>
            <a:ext cx="7102983" cy="459105"/>
          </a:xfrm>
          <a:prstGeom prst="rect">
            <a:avLst/>
          </a:prstGeom>
        </p:spPr>
        <p:txBody>
          <a:bodyPr lIns="0" tIns="0" rIns="0" bIns="0" rtlCol="0" anchor="t">
            <a:spAutoFit/>
          </a:bodyPr>
          <a:lstStyle/>
          <a:p>
            <a:pPr algn="l">
              <a:lnSpc>
                <a:spcPts val="2940"/>
              </a:lnSpc>
            </a:pPr>
            <a:r>
              <a:rPr lang="en-US" sz="2100" b="1">
                <a:solidFill>
                  <a:srgbClr val="14213D"/>
                </a:solidFill>
                <a:latin typeface="IBM Plex Sans Bold"/>
                <a:ea typeface="IBM Plex Sans Bold"/>
                <a:cs typeface="IBM Plex Sans Bold"/>
                <a:sym typeface="IBM Plex Sans Bold"/>
              </a:rPr>
              <a:t>Water, end of history</a:t>
            </a:r>
          </a:p>
        </p:txBody>
      </p:sp>
      <p:sp>
        <p:nvSpPr>
          <p:cNvPr id="14" name="TextBox 14"/>
          <p:cNvSpPr txBox="1"/>
          <p:nvPr/>
        </p:nvSpPr>
        <p:spPr>
          <a:xfrm>
            <a:off x="9791700" y="3310890"/>
            <a:ext cx="7102983" cy="819150"/>
          </a:xfrm>
          <a:prstGeom prst="rect">
            <a:avLst/>
          </a:prstGeom>
        </p:spPr>
        <p:txBody>
          <a:bodyPr lIns="0" tIns="0" rIns="0" bIns="0" rtlCol="0" anchor="t">
            <a:spAutoFit/>
          </a:bodyPr>
          <a:lstStyle/>
          <a:p>
            <a:pPr algn="l">
              <a:lnSpc>
                <a:spcPts val="7200"/>
              </a:lnSpc>
            </a:pPr>
            <a:r>
              <a:rPr lang="en-US" sz="7200" b="1">
                <a:solidFill>
                  <a:srgbClr val="2E6FB0"/>
                </a:solidFill>
                <a:latin typeface="Rubik Bold"/>
                <a:ea typeface="Rubik Bold"/>
                <a:cs typeface="Rubik Bold"/>
                <a:sym typeface="Rubik Bold"/>
              </a:rPr>
              <a:t>−10–11%</a:t>
            </a:r>
          </a:p>
        </p:txBody>
      </p:sp>
      <p:grpSp>
        <p:nvGrpSpPr>
          <p:cNvPr id="15" name="Group 15"/>
          <p:cNvGrpSpPr/>
          <p:nvPr/>
        </p:nvGrpSpPr>
        <p:grpSpPr>
          <a:xfrm>
            <a:off x="1219200" y="4892040"/>
            <a:ext cx="15849600" cy="1409700"/>
            <a:chOff x="0" y="0"/>
            <a:chExt cx="21132800" cy="1879600"/>
          </a:xfrm>
        </p:grpSpPr>
        <p:sp>
          <p:nvSpPr>
            <p:cNvPr id="16" name="Freeform 16"/>
            <p:cNvSpPr/>
            <p:nvPr/>
          </p:nvSpPr>
          <p:spPr>
            <a:xfrm>
              <a:off x="0" y="0"/>
              <a:ext cx="21132800" cy="1879600"/>
            </a:xfrm>
            <a:custGeom>
              <a:avLst/>
              <a:gdLst/>
              <a:ahLst/>
              <a:cxnLst/>
              <a:rect l="l" t="t" r="r" b="b"/>
              <a:pathLst>
                <a:path w="21132800" h="1879600">
                  <a:moveTo>
                    <a:pt x="0" y="203200"/>
                  </a:moveTo>
                  <a:cubicBezTo>
                    <a:pt x="0" y="90932"/>
                    <a:pt x="90932" y="0"/>
                    <a:pt x="203200" y="0"/>
                  </a:cubicBezTo>
                  <a:lnTo>
                    <a:pt x="20929600" y="0"/>
                  </a:lnTo>
                  <a:cubicBezTo>
                    <a:pt x="21041868" y="0"/>
                    <a:pt x="21132800" y="90932"/>
                    <a:pt x="21132800" y="203200"/>
                  </a:cubicBezTo>
                  <a:lnTo>
                    <a:pt x="21132800" y="1676400"/>
                  </a:lnTo>
                  <a:cubicBezTo>
                    <a:pt x="21132800" y="1788668"/>
                    <a:pt x="21041868" y="1879600"/>
                    <a:pt x="20929600" y="1879600"/>
                  </a:cubicBezTo>
                  <a:lnTo>
                    <a:pt x="203200" y="1879600"/>
                  </a:lnTo>
                  <a:cubicBezTo>
                    <a:pt x="90932" y="1879600"/>
                    <a:pt x="0" y="1788668"/>
                    <a:pt x="0" y="1676400"/>
                  </a:cubicBezTo>
                  <a:close/>
                </a:path>
              </a:pathLst>
            </a:custGeom>
            <a:solidFill>
              <a:srgbClr val="14213D"/>
            </a:solidFill>
          </p:spPr>
          <p:txBody>
            <a:bodyPr/>
            <a:lstStyle/>
            <a:p>
              <a:endParaRPr lang="en-MY"/>
            </a:p>
          </p:txBody>
        </p:sp>
      </p:grpSp>
      <p:grpSp>
        <p:nvGrpSpPr>
          <p:cNvPr id="17" name="Group 17"/>
          <p:cNvGrpSpPr/>
          <p:nvPr/>
        </p:nvGrpSpPr>
        <p:grpSpPr>
          <a:xfrm>
            <a:off x="1600200" y="5368290"/>
            <a:ext cx="457200" cy="457200"/>
            <a:chOff x="0" y="0"/>
            <a:chExt cx="609600" cy="609600"/>
          </a:xfrm>
        </p:grpSpPr>
        <p:sp>
          <p:nvSpPr>
            <p:cNvPr id="18" name="Freeform 18" descr="Search"/>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3"/>
              <a:stretch>
                <a:fillRect/>
              </a:stretch>
            </a:blipFill>
          </p:spPr>
          <p:txBody>
            <a:bodyPr/>
            <a:lstStyle/>
            <a:p>
              <a:endParaRPr lang="en-MY"/>
            </a:p>
          </p:txBody>
        </p:sp>
      </p:grpSp>
      <p:sp>
        <p:nvSpPr>
          <p:cNvPr id="19" name="TextBox 19"/>
          <p:cNvSpPr txBox="1"/>
          <p:nvPr/>
        </p:nvSpPr>
        <p:spPr>
          <a:xfrm>
            <a:off x="2286000" y="5158740"/>
            <a:ext cx="14716125" cy="876300"/>
          </a:xfrm>
          <a:prstGeom prst="rect">
            <a:avLst/>
          </a:prstGeom>
        </p:spPr>
        <p:txBody>
          <a:bodyPr lIns="0" tIns="0" rIns="0" bIns="0" rtlCol="0" anchor="t">
            <a:spAutoFit/>
          </a:bodyPr>
          <a:lstStyle/>
          <a:p>
            <a:pPr algn="l">
              <a:lnSpc>
                <a:spcPts val="3149"/>
              </a:lnSpc>
            </a:pPr>
            <a:r>
              <a:rPr lang="en-US" sz="2250">
                <a:solidFill>
                  <a:srgbClr val="F7F6F2"/>
                </a:solidFill>
                <a:latin typeface="IBM Plex Sans"/>
                <a:ea typeface="IBM Plex Sans"/>
                <a:cs typeface="IBM Plex Sans"/>
                <a:sym typeface="IBM Plex Sans"/>
              </a:rPr>
              <a:t>From the same 50,000 sets, the ones that fit 2005–2008 best matched the whole 1998–2008 history 7–10× worse. So we kept our 10.</a:t>
            </a:r>
          </a:p>
        </p:txBody>
      </p:sp>
      <p:sp>
        <p:nvSpPr>
          <p:cNvPr id="20" name="TextBox 20"/>
          <p:cNvSpPr txBox="1"/>
          <p:nvPr/>
        </p:nvSpPr>
        <p:spPr>
          <a:xfrm>
            <a:off x="1219200" y="6682740"/>
            <a:ext cx="15697200" cy="422910"/>
          </a:xfrm>
          <a:prstGeom prst="rect">
            <a:avLst/>
          </a:prstGeom>
        </p:spPr>
        <p:txBody>
          <a:bodyPr lIns="0" tIns="0" rIns="0" bIns="0" rtlCol="0" anchor="t">
            <a:spAutoFit/>
          </a:bodyPr>
          <a:lstStyle/>
          <a:p>
            <a:pPr algn="l">
              <a:lnSpc>
                <a:spcPts val="2729"/>
              </a:lnSpc>
            </a:pPr>
            <a:r>
              <a:rPr lang="en-US" sz="1950">
                <a:solidFill>
                  <a:srgbClr val="5A6678"/>
                </a:solidFill>
                <a:latin typeface="IBM Plex Sans"/>
                <a:ea typeface="IBM Plex Sans"/>
                <a:cs typeface="IBM Plex Sans"/>
                <a:sym typeface="IBM Plex Sans"/>
              </a:rPr>
              <a:t>The bias already exists in the simulated cases. Oil + water together is within 1.5% of the real field.</a:t>
            </a:r>
          </a:p>
        </p:txBody>
      </p:sp>
      <p:sp>
        <p:nvSpPr>
          <p:cNvPr id="21" name="TextBox 21"/>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T3 · History match &amp; forecast</a:t>
            </a:r>
          </a:p>
        </p:txBody>
      </p:sp>
      <p:sp>
        <p:nvSpPr>
          <p:cNvPr id="22" name="TextBox 22"/>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extBox 2"/>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14213D"/>
                </a:solidFill>
                <a:latin typeface="Rubik Bold"/>
                <a:ea typeface="Rubik Bold"/>
                <a:cs typeface="Rubik Bold"/>
                <a:sym typeface="Rubik Bold"/>
              </a:rPr>
              <a:t>The real uncertainty is in our assumptions</a:t>
            </a:r>
          </a:p>
        </p:txBody>
      </p:sp>
      <p:sp>
        <p:nvSpPr>
          <p:cNvPr id="3" name="TextBox 3"/>
          <p:cNvSpPr txBox="1"/>
          <p:nvPr/>
        </p:nvSpPr>
        <p:spPr>
          <a:xfrm>
            <a:off x="1219200" y="2223135"/>
            <a:ext cx="15697200" cy="459105"/>
          </a:xfrm>
          <a:prstGeom prst="rect">
            <a:avLst/>
          </a:prstGeom>
        </p:spPr>
        <p:txBody>
          <a:bodyPr lIns="0" tIns="0" rIns="0" bIns="0" rtlCol="0" anchor="t">
            <a:spAutoFit/>
          </a:bodyPr>
          <a:lstStyle/>
          <a:p>
            <a:pPr algn="l">
              <a:lnSpc>
                <a:spcPts val="2940"/>
              </a:lnSpc>
            </a:pPr>
            <a:r>
              <a:rPr lang="en-US" sz="2100">
                <a:solidFill>
                  <a:srgbClr val="3D4A5C"/>
                </a:solidFill>
                <a:latin typeface="IBM Plex Sans"/>
                <a:ea typeface="IBM Plex Sans"/>
                <a:cs typeface="IBM Plex Sans"/>
                <a:sym typeface="IBM Plex Sans"/>
              </a:rPr>
              <a:t>How much the 2028 cumulative moves when one choice changes:</a:t>
            </a:r>
          </a:p>
        </p:txBody>
      </p:sp>
      <p:sp>
        <p:nvSpPr>
          <p:cNvPr id="4" name="TextBox 4"/>
          <p:cNvSpPr txBox="1"/>
          <p:nvPr/>
        </p:nvSpPr>
        <p:spPr>
          <a:xfrm>
            <a:off x="1219200" y="2996565"/>
            <a:ext cx="4905375" cy="760095"/>
          </a:xfrm>
          <a:prstGeom prst="rect">
            <a:avLst/>
          </a:prstGeom>
        </p:spPr>
        <p:txBody>
          <a:bodyPr lIns="0" tIns="0" rIns="0" bIns="0" rtlCol="0" anchor="t">
            <a:spAutoFit/>
          </a:bodyPr>
          <a:lstStyle/>
          <a:p>
            <a:pPr algn="l">
              <a:lnSpc>
                <a:spcPts val="2730"/>
              </a:lnSpc>
            </a:pPr>
            <a:r>
              <a:rPr lang="en-US" sz="2100" b="1">
                <a:solidFill>
                  <a:srgbClr val="3D4A5C"/>
                </a:solidFill>
                <a:latin typeface="IBM Plex Sans Bold"/>
                <a:ea typeface="IBM Plex Sans Bold"/>
                <a:cs typeface="IBM Plex Sans Bold"/>
                <a:sym typeface="IBM Plex Sans Bold"/>
              </a:rPr>
              <a:t>10 parameter sets</a:t>
            </a:r>
          </a:p>
          <a:p>
            <a:pPr algn="l">
              <a:lnSpc>
                <a:spcPts val="2730"/>
              </a:lnSpc>
            </a:pPr>
            <a:r>
              <a:rPr lang="en-US" sz="2100">
                <a:solidFill>
                  <a:srgbClr val="3D4A5C"/>
                </a:solidFill>
                <a:latin typeface="IBM Plex Sans"/>
                <a:ea typeface="IBM Plex Sans"/>
                <a:cs typeface="IBM Plex Sans"/>
                <a:sym typeface="IBM Plex Sans"/>
              </a:rPr>
              <a:t>oil, gas, water</a:t>
            </a:r>
          </a:p>
        </p:txBody>
      </p:sp>
      <p:grpSp>
        <p:nvGrpSpPr>
          <p:cNvPr id="5" name="Group 5"/>
          <p:cNvGrpSpPr/>
          <p:nvPr/>
        </p:nvGrpSpPr>
        <p:grpSpPr>
          <a:xfrm>
            <a:off x="6210300" y="3124200"/>
            <a:ext cx="342900" cy="495300"/>
            <a:chOff x="0" y="0"/>
            <a:chExt cx="457200" cy="660400"/>
          </a:xfrm>
        </p:grpSpPr>
        <p:sp>
          <p:nvSpPr>
            <p:cNvPr id="6" name="Freeform 6"/>
            <p:cNvSpPr/>
            <p:nvPr/>
          </p:nvSpPr>
          <p:spPr>
            <a:xfrm>
              <a:off x="0" y="0"/>
              <a:ext cx="457200" cy="660400"/>
            </a:xfrm>
            <a:custGeom>
              <a:avLst/>
              <a:gdLst/>
              <a:ahLst/>
              <a:cxnLst/>
              <a:rect l="l" t="t" r="r" b="b"/>
              <a:pathLst>
                <a:path w="457200" h="660400">
                  <a:moveTo>
                    <a:pt x="0" y="76200"/>
                  </a:moveTo>
                  <a:cubicBezTo>
                    <a:pt x="0" y="34163"/>
                    <a:pt x="34163" y="0"/>
                    <a:pt x="76200" y="0"/>
                  </a:cubicBezTo>
                  <a:lnTo>
                    <a:pt x="381000" y="0"/>
                  </a:lnTo>
                  <a:cubicBezTo>
                    <a:pt x="423037" y="0"/>
                    <a:pt x="457200" y="34163"/>
                    <a:pt x="457200" y="76200"/>
                  </a:cubicBezTo>
                  <a:lnTo>
                    <a:pt x="457200" y="584200"/>
                  </a:lnTo>
                  <a:cubicBezTo>
                    <a:pt x="457200" y="626237"/>
                    <a:pt x="423037" y="660400"/>
                    <a:pt x="381000" y="660400"/>
                  </a:cubicBezTo>
                  <a:lnTo>
                    <a:pt x="76200" y="660400"/>
                  </a:lnTo>
                  <a:cubicBezTo>
                    <a:pt x="34163" y="660400"/>
                    <a:pt x="0" y="626237"/>
                    <a:pt x="0" y="584200"/>
                  </a:cubicBezTo>
                  <a:close/>
                </a:path>
              </a:pathLst>
            </a:custGeom>
            <a:solidFill>
              <a:srgbClr val="9AA8BC"/>
            </a:solidFill>
          </p:spPr>
          <p:txBody>
            <a:bodyPr/>
            <a:lstStyle/>
            <a:p>
              <a:endParaRPr lang="en-MY"/>
            </a:p>
          </p:txBody>
        </p:sp>
      </p:grpSp>
      <p:sp>
        <p:nvSpPr>
          <p:cNvPr id="7" name="TextBox 7"/>
          <p:cNvSpPr txBox="1"/>
          <p:nvPr/>
        </p:nvSpPr>
        <p:spPr>
          <a:xfrm>
            <a:off x="6781800" y="3074670"/>
            <a:ext cx="1200369" cy="575310"/>
          </a:xfrm>
          <a:prstGeom prst="rect">
            <a:avLst/>
          </a:prstGeom>
        </p:spPr>
        <p:txBody>
          <a:bodyPr lIns="0" tIns="0" rIns="0" bIns="0" rtlCol="0" anchor="t">
            <a:spAutoFit/>
          </a:bodyPr>
          <a:lstStyle/>
          <a:p>
            <a:pPr algn="l">
              <a:lnSpc>
                <a:spcPts val="3779"/>
              </a:lnSpc>
            </a:pPr>
            <a:r>
              <a:rPr lang="en-US" sz="2700" b="1">
                <a:solidFill>
                  <a:srgbClr val="5A6678"/>
                </a:solidFill>
                <a:latin typeface="Rubik Bold"/>
                <a:ea typeface="Rubik Bold"/>
                <a:cs typeface="Rubik Bold"/>
                <a:sym typeface="Rubik Bold"/>
              </a:rPr>
              <a:t>~0.6%</a:t>
            </a:r>
          </a:p>
        </p:txBody>
      </p:sp>
      <p:sp>
        <p:nvSpPr>
          <p:cNvPr id="8" name="TextBox 8"/>
          <p:cNvSpPr txBox="1"/>
          <p:nvPr/>
        </p:nvSpPr>
        <p:spPr>
          <a:xfrm>
            <a:off x="1219200" y="3956685"/>
            <a:ext cx="4905375" cy="760095"/>
          </a:xfrm>
          <a:prstGeom prst="rect">
            <a:avLst/>
          </a:prstGeom>
        </p:spPr>
        <p:txBody>
          <a:bodyPr lIns="0" tIns="0" rIns="0" bIns="0" rtlCol="0" anchor="t">
            <a:spAutoFit/>
          </a:bodyPr>
          <a:lstStyle/>
          <a:p>
            <a:pPr algn="l">
              <a:lnSpc>
                <a:spcPts val="2730"/>
              </a:lnSpc>
            </a:pPr>
            <a:r>
              <a:rPr lang="en-US" sz="2100" b="1">
                <a:solidFill>
                  <a:srgbClr val="3D4A5C"/>
                </a:solidFill>
                <a:latin typeface="IBM Plex Sans Bold"/>
                <a:ea typeface="IBM Plex Sans Bold"/>
                <a:cs typeface="IBM Plex Sans Bold"/>
                <a:sym typeface="IBM Plex Sans Bold"/>
              </a:rPr>
              <a:t>Calibrate or not</a:t>
            </a:r>
          </a:p>
          <a:p>
            <a:pPr algn="l">
              <a:lnSpc>
                <a:spcPts val="2730"/>
              </a:lnSpc>
            </a:pPr>
            <a:r>
              <a:rPr lang="en-US" sz="2100">
                <a:solidFill>
                  <a:srgbClr val="3D4A5C"/>
                </a:solidFill>
                <a:latin typeface="IBM Plex Sans"/>
                <a:ea typeface="IBM Plex Sans"/>
                <a:cs typeface="IBM Plex Sans"/>
                <a:sym typeface="IBM Plex Sans"/>
              </a:rPr>
              <a:t>oil and gas</a:t>
            </a:r>
          </a:p>
        </p:txBody>
      </p:sp>
      <p:grpSp>
        <p:nvGrpSpPr>
          <p:cNvPr id="9" name="Group 9"/>
          <p:cNvGrpSpPr/>
          <p:nvPr/>
        </p:nvGrpSpPr>
        <p:grpSpPr>
          <a:xfrm>
            <a:off x="6210300" y="4084320"/>
            <a:ext cx="2686050" cy="495300"/>
            <a:chOff x="0" y="0"/>
            <a:chExt cx="3581400" cy="660400"/>
          </a:xfrm>
        </p:grpSpPr>
        <p:sp>
          <p:nvSpPr>
            <p:cNvPr id="10" name="Freeform 10"/>
            <p:cNvSpPr/>
            <p:nvPr/>
          </p:nvSpPr>
          <p:spPr>
            <a:xfrm>
              <a:off x="0" y="0"/>
              <a:ext cx="3581400" cy="660400"/>
            </a:xfrm>
            <a:custGeom>
              <a:avLst/>
              <a:gdLst/>
              <a:ahLst/>
              <a:cxnLst/>
              <a:rect l="l" t="t" r="r" b="b"/>
              <a:pathLst>
                <a:path w="3581400" h="660400">
                  <a:moveTo>
                    <a:pt x="0" y="76200"/>
                  </a:moveTo>
                  <a:cubicBezTo>
                    <a:pt x="0" y="34163"/>
                    <a:pt x="34163" y="0"/>
                    <a:pt x="76200" y="0"/>
                  </a:cubicBezTo>
                  <a:lnTo>
                    <a:pt x="3505200" y="0"/>
                  </a:lnTo>
                  <a:cubicBezTo>
                    <a:pt x="3547237" y="0"/>
                    <a:pt x="3581400" y="34163"/>
                    <a:pt x="3581400" y="76200"/>
                  </a:cubicBezTo>
                  <a:lnTo>
                    <a:pt x="3581400" y="584200"/>
                  </a:lnTo>
                  <a:cubicBezTo>
                    <a:pt x="3581400" y="626237"/>
                    <a:pt x="3547237" y="660400"/>
                    <a:pt x="3505200" y="660400"/>
                  </a:cubicBezTo>
                  <a:lnTo>
                    <a:pt x="76200" y="660400"/>
                  </a:lnTo>
                  <a:cubicBezTo>
                    <a:pt x="34163" y="660400"/>
                    <a:pt x="0" y="626237"/>
                    <a:pt x="0" y="584200"/>
                  </a:cubicBezTo>
                  <a:close/>
                </a:path>
              </a:pathLst>
            </a:custGeom>
            <a:solidFill>
              <a:srgbClr val="E07A2F"/>
            </a:solidFill>
          </p:spPr>
          <p:txBody>
            <a:bodyPr/>
            <a:lstStyle/>
            <a:p>
              <a:endParaRPr lang="en-MY"/>
            </a:p>
          </p:txBody>
        </p:sp>
      </p:grpSp>
      <p:sp>
        <p:nvSpPr>
          <p:cNvPr id="11" name="TextBox 11"/>
          <p:cNvSpPr txBox="1"/>
          <p:nvPr/>
        </p:nvSpPr>
        <p:spPr>
          <a:xfrm>
            <a:off x="9124950" y="4034790"/>
            <a:ext cx="1156792" cy="575310"/>
          </a:xfrm>
          <a:prstGeom prst="rect">
            <a:avLst/>
          </a:prstGeom>
        </p:spPr>
        <p:txBody>
          <a:bodyPr lIns="0" tIns="0" rIns="0" bIns="0" rtlCol="0" anchor="t">
            <a:spAutoFit/>
          </a:bodyPr>
          <a:lstStyle/>
          <a:p>
            <a:pPr algn="l">
              <a:lnSpc>
                <a:spcPts val="3779"/>
              </a:lnSpc>
            </a:pPr>
            <a:r>
              <a:rPr lang="en-US" sz="2700" b="1">
                <a:solidFill>
                  <a:srgbClr val="B5561A"/>
                </a:solidFill>
                <a:latin typeface="Rubik Bold"/>
                <a:ea typeface="Rubik Bold"/>
                <a:cs typeface="Rubik Bold"/>
                <a:sym typeface="Rubik Bold"/>
              </a:rPr>
              <a:t>~4.7%</a:t>
            </a:r>
          </a:p>
        </p:txBody>
      </p:sp>
      <p:sp>
        <p:nvSpPr>
          <p:cNvPr id="12" name="TextBox 12"/>
          <p:cNvSpPr txBox="1"/>
          <p:nvPr/>
        </p:nvSpPr>
        <p:spPr>
          <a:xfrm>
            <a:off x="1219200" y="4916805"/>
            <a:ext cx="4905375" cy="760095"/>
          </a:xfrm>
          <a:prstGeom prst="rect">
            <a:avLst/>
          </a:prstGeom>
        </p:spPr>
        <p:txBody>
          <a:bodyPr lIns="0" tIns="0" rIns="0" bIns="0" rtlCol="0" anchor="t">
            <a:spAutoFit/>
          </a:bodyPr>
          <a:lstStyle/>
          <a:p>
            <a:pPr algn="l">
              <a:lnSpc>
                <a:spcPts val="2730"/>
              </a:lnSpc>
            </a:pPr>
            <a:r>
              <a:rPr lang="en-US" sz="2100" b="1">
                <a:solidFill>
                  <a:srgbClr val="3D4A5C"/>
                </a:solidFill>
                <a:latin typeface="IBM Plex Sans Bold"/>
                <a:ea typeface="IBM Plex Sans Bold"/>
                <a:cs typeface="IBM Plex Sans Bold"/>
                <a:sym typeface="IBM Plex Sans Bold"/>
              </a:rPr>
              <a:t>Fitting years + curve shape</a:t>
            </a:r>
          </a:p>
          <a:p>
            <a:pPr algn="l">
              <a:lnSpc>
                <a:spcPts val="2730"/>
              </a:lnSpc>
            </a:pPr>
            <a:r>
              <a:rPr lang="en-US" sz="2100">
                <a:solidFill>
                  <a:srgbClr val="3D4A5C"/>
                </a:solidFill>
                <a:latin typeface="IBM Plex Sans"/>
                <a:ea typeface="IBM Plex Sans"/>
                <a:cs typeface="IBM Plex Sans"/>
                <a:sym typeface="IBM Plex Sans"/>
              </a:rPr>
              <a:t>oil</a:t>
            </a:r>
          </a:p>
        </p:txBody>
      </p:sp>
      <p:grpSp>
        <p:nvGrpSpPr>
          <p:cNvPr id="13" name="Group 13"/>
          <p:cNvGrpSpPr/>
          <p:nvPr/>
        </p:nvGrpSpPr>
        <p:grpSpPr>
          <a:xfrm>
            <a:off x="6210300" y="5044440"/>
            <a:ext cx="4000500" cy="495300"/>
            <a:chOff x="0" y="0"/>
            <a:chExt cx="5334000" cy="660400"/>
          </a:xfrm>
        </p:grpSpPr>
        <p:sp>
          <p:nvSpPr>
            <p:cNvPr id="14" name="Freeform 14"/>
            <p:cNvSpPr/>
            <p:nvPr/>
          </p:nvSpPr>
          <p:spPr>
            <a:xfrm>
              <a:off x="0" y="0"/>
              <a:ext cx="5334000" cy="660400"/>
            </a:xfrm>
            <a:custGeom>
              <a:avLst/>
              <a:gdLst/>
              <a:ahLst/>
              <a:cxnLst/>
              <a:rect l="l" t="t" r="r" b="b"/>
              <a:pathLst>
                <a:path w="5334000" h="660400">
                  <a:moveTo>
                    <a:pt x="0" y="76200"/>
                  </a:moveTo>
                  <a:cubicBezTo>
                    <a:pt x="0" y="34163"/>
                    <a:pt x="34163" y="0"/>
                    <a:pt x="76200" y="0"/>
                  </a:cubicBezTo>
                  <a:lnTo>
                    <a:pt x="5257800" y="0"/>
                  </a:lnTo>
                  <a:cubicBezTo>
                    <a:pt x="5299837" y="0"/>
                    <a:pt x="5334000" y="34163"/>
                    <a:pt x="5334000" y="76200"/>
                  </a:cubicBezTo>
                  <a:lnTo>
                    <a:pt x="5334000" y="584200"/>
                  </a:lnTo>
                  <a:cubicBezTo>
                    <a:pt x="5334000" y="626237"/>
                    <a:pt x="5299837" y="660400"/>
                    <a:pt x="5257800" y="660400"/>
                  </a:cubicBezTo>
                  <a:lnTo>
                    <a:pt x="76200" y="660400"/>
                  </a:lnTo>
                  <a:cubicBezTo>
                    <a:pt x="34163" y="660400"/>
                    <a:pt x="0" y="626237"/>
                    <a:pt x="0" y="584200"/>
                  </a:cubicBezTo>
                  <a:close/>
                </a:path>
              </a:pathLst>
            </a:custGeom>
            <a:solidFill>
              <a:srgbClr val="E07A2F"/>
            </a:solidFill>
          </p:spPr>
          <p:txBody>
            <a:bodyPr/>
            <a:lstStyle/>
            <a:p>
              <a:endParaRPr lang="en-MY"/>
            </a:p>
          </p:txBody>
        </p:sp>
      </p:grpSp>
      <p:sp>
        <p:nvSpPr>
          <p:cNvPr id="15" name="TextBox 15"/>
          <p:cNvSpPr txBox="1"/>
          <p:nvPr/>
        </p:nvSpPr>
        <p:spPr>
          <a:xfrm>
            <a:off x="10439400" y="4994910"/>
            <a:ext cx="785317" cy="575310"/>
          </a:xfrm>
          <a:prstGeom prst="rect">
            <a:avLst/>
          </a:prstGeom>
        </p:spPr>
        <p:txBody>
          <a:bodyPr lIns="0" tIns="0" rIns="0" bIns="0" rtlCol="0" anchor="t">
            <a:spAutoFit/>
          </a:bodyPr>
          <a:lstStyle/>
          <a:p>
            <a:pPr algn="l">
              <a:lnSpc>
                <a:spcPts val="3779"/>
              </a:lnSpc>
            </a:pPr>
            <a:r>
              <a:rPr lang="en-US" sz="2700" b="1">
                <a:solidFill>
                  <a:srgbClr val="B5561A"/>
                </a:solidFill>
                <a:latin typeface="Rubik Bold"/>
                <a:ea typeface="Rubik Bold"/>
                <a:cs typeface="Rubik Bold"/>
                <a:sym typeface="Rubik Bold"/>
              </a:rPr>
              <a:t>~7%</a:t>
            </a:r>
          </a:p>
        </p:txBody>
      </p:sp>
      <p:sp>
        <p:nvSpPr>
          <p:cNvPr id="16" name="TextBox 16"/>
          <p:cNvSpPr txBox="1"/>
          <p:nvPr/>
        </p:nvSpPr>
        <p:spPr>
          <a:xfrm>
            <a:off x="1219200" y="5876925"/>
            <a:ext cx="4905375" cy="760095"/>
          </a:xfrm>
          <a:prstGeom prst="rect">
            <a:avLst/>
          </a:prstGeom>
        </p:spPr>
        <p:txBody>
          <a:bodyPr lIns="0" tIns="0" rIns="0" bIns="0" rtlCol="0" anchor="t">
            <a:spAutoFit/>
          </a:bodyPr>
          <a:lstStyle/>
          <a:p>
            <a:pPr algn="l">
              <a:lnSpc>
                <a:spcPts val="2730"/>
              </a:lnSpc>
            </a:pPr>
            <a:r>
              <a:rPr lang="en-US" sz="2100" b="1">
                <a:solidFill>
                  <a:srgbClr val="3D4A5C"/>
                </a:solidFill>
                <a:latin typeface="IBM Plex Sans Bold"/>
                <a:ea typeface="IBM Plex Sans Bold"/>
                <a:cs typeface="IBM Plex Sans Bold"/>
                <a:sym typeface="IBM Plex Sans Bold"/>
              </a:rPr>
              <a:t>Water cap level</a:t>
            </a:r>
          </a:p>
          <a:p>
            <a:pPr algn="l">
              <a:lnSpc>
                <a:spcPts val="2730"/>
              </a:lnSpc>
            </a:pPr>
            <a:r>
              <a:rPr lang="en-US" sz="2100">
                <a:solidFill>
                  <a:srgbClr val="3D4A5C"/>
                </a:solidFill>
                <a:latin typeface="IBM Plex Sans"/>
                <a:ea typeface="IBM Plex Sans"/>
                <a:cs typeface="IBM Plex Sans"/>
                <a:sym typeface="IBM Plex Sans"/>
              </a:rPr>
              <a:t>water: 86.3–101.3M STB</a:t>
            </a:r>
          </a:p>
        </p:txBody>
      </p:sp>
      <p:grpSp>
        <p:nvGrpSpPr>
          <p:cNvPr id="17" name="Group 17"/>
          <p:cNvGrpSpPr/>
          <p:nvPr/>
        </p:nvGrpSpPr>
        <p:grpSpPr>
          <a:xfrm>
            <a:off x="6210300" y="6004560"/>
            <a:ext cx="9144000" cy="495300"/>
            <a:chOff x="0" y="0"/>
            <a:chExt cx="12192000" cy="660400"/>
          </a:xfrm>
        </p:grpSpPr>
        <p:sp>
          <p:nvSpPr>
            <p:cNvPr id="18" name="Freeform 18"/>
            <p:cNvSpPr/>
            <p:nvPr/>
          </p:nvSpPr>
          <p:spPr>
            <a:xfrm>
              <a:off x="0" y="0"/>
              <a:ext cx="12192000" cy="660400"/>
            </a:xfrm>
            <a:custGeom>
              <a:avLst/>
              <a:gdLst/>
              <a:ahLst/>
              <a:cxnLst/>
              <a:rect l="l" t="t" r="r" b="b"/>
              <a:pathLst>
                <a:path w="12192000" h="660400">
                  <a:moveTo>
                    <a:pt x="0" y="76200"/>
                  </a:moveTo>
                  <a:cubicBezTo>
                    <a:pt x="0" y="34163"/>
                    <a:pt x="34163" y="0"/>
                    <a:pt x="76200" y="0"/>
                  </a:cubicBezTo>
                  <a:lnTo>
                    <a:pt x="12115800" y="0"/>
                  </a:lnTo>
                  <a:cubicBezTo>
                    <a:pt x="12157837" y="0"/>
                    <a:pt x="12192000" y="34163"/>
                    <a:pt x="12192000" y="76200"/>
                  </a:cubicBezTo>
                  <a:lnTo>
                    <a:pt x="12192000" y="584200"/>
                  </a:lnTo>
                  <a:cubicBezTo>
                    <a:pt x="12192000" y="626237"/>
                    <a:pt x="12157837" y="660400"/>
                    <a:pt x="12115800" y="660400"/>
                  </a:cubicBezTo>
                  <a:lnTo>
                    <a:pt x="76200" y="660400"/>
                  </a:lnTo>
                  <a:cubicBezTo>
                    <a:pt x="34163" y="660400"/>
                    <a:pt x="0" y="626237"/>
                    <a:pt x="0" y="584200"/>
                  </a:cubicBezTo>
                  <a:close/>
                </a:path>
              </a:pathLst>
            </a:custGeom>
            <a:solidFill>
              <a:srgbClr val="2E6FB0"/>
            </a:solidFill>
          </p:spPr>
          <p:txBody>
            <a:bodyPr/>
            <a:lstStyle/>
            <a:p>
              <a:endParaRPr lang="en-MY"/>
            </a:p>
          </p:txBody>
        </p:sp>
      </p:grpSp>
      <p:sp>
        <p:nvSpPr>
          <p:cNvPr id="19" name="TextBox 19"/>
          <p:cNvSpPr txBox="1"/>
          <p:nvPr/>
        </p:nvSpPr>
        <p:spPr>
          <a:xfrm>
            <a:off x="15582900" y="5955030"/>
            <a:ext cx="1015775" cy="575310"/>
          </a:xfrm>
          <a:prstGeom prst="rect">
            <a:avLst/>
          </a:prstGeom>
        </p:spPr>
        <p:txBody>
          <a:bodyPr lIns="0" tIns="0" rIns="0" bIns="0" rtlCol="0" anchor="t">
            <a:spAutoFit/>
          </a:bodyPr>
          <a:lstStyle/>
          <a:p>
            <a:pPr algn="l">
              <a:lnSpc>
                <a:spcPts val="3779"/>
              </a:lnSpc>
            </a:pPr>
            <a:r>
              <a:rPr lang="en-US" sz="2700" b="1">
                <a:solidFill>
                  <a:srgbClr val="2E6FB0"/>
                </a:solidFill>
                <a:latin typeface="Rubik Bold"/>
                <a:ea typeface="Rubik Bold"/>
                <a:cs typeface="Rubik Bold"/>
                <a:sym typeface="Rubik Bold"/>
              </a:rPr>
              <a:t>~16%</a:t>
            </a:r>
          </a:p>
        </p:txBody>
      </p:sp>
      <p:sp>
        <p:nvSpPr>
          <p:cNvPr id="20" name="TextBox 20"/>
          <p:cNvSpPr txBox="1"/>
          <p:nvPr/>
        </p:nvSpPr>
        <p:spPr>
          <a:xfrm>
            <a:off x="1219200" y="6941820"/>
            <a:ext cx="15697200" cy="422910"/>
          </a:xfrm>
          <a:prstGeom prst="rect">
            <a:avLst/>
          </a:prstGeom>
        </p:spPr>
        <p:txBody>
          <a:bodyPr lIns="0" tIns="0" rIns="0" bIns="0" rtlCol="0" anchor="t">
            <a:spAutoFit/>
          </a:bodyPr>
          <a:lstStyle/>
          <a:p>
            <a:pPr algn="l">
              <a:lnSpc>
                <a:spcPts val="2729"/>
              </a:lnSpc>
            </a:pPr>
            <a:r>
              <a:rPr lang="en-US" sz="1950">
                <a:solidFill>
                  <a:srgbClr val="5A6678"/>
                </a:solidFill>
                <a:latin typeface="IBM Plex Sans"/>
                <a:ea typeface="IBM Plex Sans"/>
                <a:cs typeface="IBM Plex Sans"/>
                <a:sym typeface="IBM Plex Sans"/>
              </a:rPr>
              <a:t>So we report scenarios, not just P10 to P90.</a:t>
            </a:r>
          </a:p>
        </p:txBody>
      </p:sp>
      <p:sp>
        <p:nvSpPr>
          <p:cNvPr id="21" name="TextBox 21"/>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7A8698"/>
                </a:solidFill>
                <a:latin typeface="IBM Plex Sans"/>
                <a:ea typeface="IBM Plex Sans"/>
                <a:cs typeface="IBM Plex Sans"/>
                <a:sym typeface="IBM Plex Sans"/>
              </a:rPr>
              <a:t>T3 · History match &amp; forecast</a:t>
            </a:r>
          </a:p>
        </p:txBody>
      </p:sp>
      <p:sp>
        <p:nvSpPr>
          <p:cNvPr id="22" name="TextBox 22"/>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7A8698"/>
                </a:solidFill>
                <a:latin typeface="IBM Plex Sans"/>
                <a:ea typeface="IBM Plex Sans"/>
                <a:cs typeface="IBM Plex Sans"/>
                <a:sym typeface="IBM Plex Sans"/>
              </a:rPr>
              <a:t>5</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228600" cy="10287000"/>
            <a:chOff x="0" y="0"/>
            <a:chExt cx="304800" cy="13716000"/>
          </a:xfrm>
        </p:grpSpPr>
        <p:sp>
          <p:nvSpPr>
            <p:cNvPr id="3" name="Freeform 3"/>
            <p:cNvSpPr/>
            <p:nvPr/>
          </p:nvSpPr>
          <p:spPr>
            <a:xfrm>
              <a:off x="0" y="0"/>
              <a:ext cx="304800" cy="13716000"/>
            </a:xfrm>
            <a:custGeom>
              <a:avLst/>
              <a:gdLst/>
              <a:ahLst/>
              <a:cxnLst/>
              <a:rect l="l" t="t" r="r" b="b"/>
              <a:pathLst>
                <a:path w="304800" h="13716000">
                  <a:moveTo>
                    <a:pt x="0" y="0"/>
                  </a:moveTo>
                  <a:lnTo>
                    <a:pt x="304800" y="0"/>
                  </a:lnTo>
                  <a:lnTo>
                    <a:pt x="304800" y="13716000"/>
                  </a:lnTo>
                  <a:lnTo>
                    <a:pt x="0" y="13716000"/>
                  </a:lnTo>
                  <a:close/>
                </a:path>
              </a:pathLst>
            </a:custGeom>
            <a:solidFill>
              <a:srgbClr val="E07A2F"/>
            </a:solidFill>
          </p:spPr>
          <p:txBody>
            <a:bodyPr/>
            <a:lstStyle/>
            <a:p>
              <a:endParaRPr lang="en-MY"/>
            </a:p>
          </p:txBody>
        </p:sp>
      </p:grpSp>
      <p:sp>
        <p:nvSpPr>
          <p:cNvPr id="4" name="TextBox 4"/>
          <p:cNvSpPr txBox="1"/>
          <p:nvPr/>
        </p:nvSpPr>
        <p:spPr>
          <a:xfrm>
            <a:off x="1219200" y="1257300"/>
            <a:ext cx="16325088" cy="670560"/>
          </a:xfrm>
          <a:prstGeom prst="rect">
            <a:avLst/>
          </a:prstGeom>
        </p:spPr>
        <p:txBody>
          <a:bodyPr lIns="0" tIns="0" rIns="0" bIns="0" rtlCol="0" anchor="t">
            <a:spAutoFit/>
          </a:bodyPr>
          <a:lstStyle/>
          <a:p>
            <a:pPr algn="l">
              <a:lnSpc>
                <a:spcPts val="5280"/>
              </a:lnSpc>
            </a:pPr>
            <a:r>
              <a:rPr lang="en-US" sz="4800" b="1">
                <a:solidFill>
                  <a:srgbClr val="F7F6F2"/>
                </a:solidFill>
                <a:latin typeface="Rubik Bold"/>
                <a:ea typeface="Rubik Bold"/>
                <a:cs typeface="Rubik Bold"/>
                <a:sym typeface="Rubik Bold"/>
              </a:rPr>
              <a:t>Future improvements</a:t>
            </a:r>
          </a:p>
        </p:txBody>
      </p:sp>
      <p:grpSp>
        <p:nvGrpSpPr>
          <p:cNvPr id="5" name="Group 5"/>
          <p:cNvGrpSpPr/>
          <p:nvPr/>
        </p:nvGrpSpPr>
        <p:grpSpPr>
          <a:xfrm>
            <a:off x="1219200" y="2346960"/>
            <a:ext cx="5105400" cy="2339340"/>
            <a:chOff x="0" y="0"/>
            <a:chExt cx="6807200" cy="3119120"/>
          </a:xfrm>
        </p:grpSpPr>
        <p:sp>
          <p:nvSpPr>
            <p:cNvPr id="6" name="Freeform 6"/>
            <p:cNvSpPr/>
            <p:nvPr/>
          </p:nvSpPr>
          <p:spPr>
            <a:xfrm>
              <a:off x="0" y="0"/>
              <a:ext cx="6807200" cy="3119120"/>
            </a:xfrm>
            <a:custGeom>
              <a:avLst/>
              <a:gdLst/>
              <a:ahLst/>
              <a:cxnLst/>
              <a:rect l="l" t="t" r="r" b="b"/>
              <a:pathLst>
                <a:path w="6807200" h="3119120">
                  <a:moveTo>
                    <a:pt x="0" y="203200"/>
                  </a:moveTo>
                  <a:cubicBezTo>
                    <a:pt x="0" y="90932"/>
                    <a:pt x="90932" y="0"/>
                    <a:pt x="203200" y="0"/>
                  </a:cubicBezTo>
                  <a:lnTo>
                    <a:pt x="6604000" y="0"/>
                  </a:lnTo>
                  <a:cubicBezTo>
                    <a:pt x="6716268" y="0"/>
                    <a:pt x="6807200" y="90932"/>
                    <a:pt x="6807200" y="203200"/>
                  </a:cubicBezTo>
                  <a:lnTo>
                    <a:pt x="6807200" y="2915920"/>
                  </a:lnTo>
                  <a:cubicBezTo>
                    <a:pt x="6807200" y="3028188"/>
                    <a:pt x="6716268" y="3119120"/>
                    <a:pt x="6604000" y="3119120"/>
                  </a:cubicBezTo>
                  <a:lnTo>
                    <a:pt x="203200" y="3119120"/>
                  </a:lnTo>
                  <a:cubicBezTo>
                    <a:pt x="90932" y="3119120"/>
                    <a:pt x="0" y="3028188"/>
                    <a:pt x="0" y="2915920"/>
                  </a:cubicBezTo>
                  <a:close/>
                </a:path>
              </a:pathLst>
            </a:custGeom>
            <a:solidFill>
              <a:srgbClr val="1F2F52"/>
            </a:solidFill>
          </p:spPr>
          <p:txBody>
            <a:bodyPr/>
            <a:lstStyle/>
            <a:p>
              <a:endParaRPr lang="en-MY"/>
            </a:p>
          </p:txBody>
        </p:sp>
      </p:grpSp>
      <p:sp>
        <p:nvSpPr>
          <p:cNvPr id="7" name="TextBox 7"/>
          <p:cNvSpPr txBox="1"/>
          <p:nvPr/>
        </p:nvSpPr>
        <p:spPr>
          <a:xfrm>
            <a:off x="1562100" y="2651760"/>
            <a:ext cx="4552188" cy="396240"/>
          </a:xfrm>
          <a:prstGeom prst="rect">
            <a:avLst/>
          </a:prstGeom>
        </p:spPr>
        <p:txBody>
          <a:bodyPr lIns="0" tIns="0" rIns="0" bIns="0" rtlCol="0" anchor="t">
            <a:spAutoFit/>
          </a:bodyPr>
          <a:lstStyle/>
          <a:p>
            <a:pPr algn="l">
              <a:lnSpc>
                <a:spcPts val="2520"/>
              </a:lnSpc>
            </a:pPr>
            <a:r>
              <a:rPr lang="en-US" sz="1800" b="1" spc="149">
                <a:solidFill>
                  <a:srgbClr val="E07A2F"/>
                </a:solidFill>
                <a:latin typeface="IBM Plex Sans Bold"/>
                <a:ea typeface="IBM Plex Sans Bold"/>
                <a:cs typeface="IBM Plex Sans Bold"/>
                <a:sym typeface="IBM Plex Sans Bold"/>
              </a:rPr>
              <a:t>1 · VERIFY</a:t>
            </a:r>
          </a:p>
        </p:txBody>
      </p:sp>
      <p:sp>
        <p:nvSpPr>
          <p:cNvPr id="8" name="TextBox 8"/>
          <p:cNvSpPr txBox="1"/>
          <p:nvPr/>
        </p:nvSpPr>
        <p:spPr>
          <a:xfrm>
            <a:off x="1562100" y="3105150"/>
            <a:ext cx="4552188" cy="1276350"/>
          </a:xfrm>
          <a:prstGeom prst="rect">
            <a:avLst/>
          </a:prstGeom>
        </p:spPr>
        <p:txBody>
          <a:bodyPr lIns="0" tIns="0" rIns="0" bIns="0" rtlCol="0" anchor="t">
            <a:spAutoFit/>
          </a:bodyPr>
          <a:lstStyle/>
          <a:p>
            <a:pPr algn="l">
              <a:lnSpc>
                <a:spcPts val="3149"/>
              </a:lnSpc>
            </a:pPr>
            <a:r>
              <a:rPr lang="en-US" sz="2250">
                <a:solidFill>
                  <a:srgbClr val="F7F6F2"/>
                </a:solidFill>
                <a:latin typeface="IBM Plex Sans"/>
                <a:ea typeface="IBM Plex Sans"/>
                <a:cs typeface="IBM Plex Sans"/>
                <a:sym typeface="IBM Plex Sans"/>
              </a:rPr>
              <a:t>Our 10 cases are ready for a full simulator run to 2028, for a true uncertainty range</a:t>
            </a:r>
          </a:p>
        </p:txBody>
      </p:sp>
      <p:grpSp>
        <p:nvGrpSpPr>
          <p:cNvPr id="9" name="Group 9"/>
          <p:cNvGrpSpPr/>
          <p:nvPr/>
        </p:nvGrpSpPr>
        <p:grpSpPr>
          <a:xfrm>
            <a:off x="6591300" y="2346960"/>
            <a:ext cx="5105400" cy="2339340"/>
            <a:chOff x="0" y="0"/>
            <a:chExt cx="6807200" cy="3119120"/>
          </a:xfrm>
        </p:grpSpPr>
        <p:sp>
          <p:nvSpPr>
            <p:cNvPr id="10" name="Freeform 10"/>
            <p:cNvSpPr/>
            <p:nvPr/>
          </p:nvSpPr>
          <p:spPr>
            <a:xfrm>
              <a:off x="0" y="0"/>
              <a:ext cx="6807200" cy="3119120"/>
            </a:xfrm>
            <a:custGeom>
              <a:avLst/>
              <a:gdLst/>
              <a:ahLst/>
              <a:cxnLst/>
              <a:rect l="l" t="t" r="r" b="b"/>
              <a:pathLst>
                <a:path w="6807200" h="3119120">
                  <a:moveTo>
                    <a:pt x="0" y="203200"/>
                  </a:moveTo>
                  <a:cubicBezTo>
                    <a:pt x="0" y="90932"/>
                    <a:pt x="90932" y="0"/>
                    <a:pt x="203200" y="0"/>
                  </a:cubicBezTo>
                  <a:lnTo>
                    <a:pt x="6604000" y="0"/>
                  </a:lnTo>
                  <a:cubicBezTo>
                    <a:pt x="6716268" y="0"/>
                    <a:pt x="6807200" y="90932"/>
                    <a:pt x="6807200" y="203200"/>
                  </a:cubicBezTo>
                  <a:lnTo>
                    <a:pt x="6807200" y="2915920"/>
                  </a:lnTo>
                  <a:cubicBezTo>
                    <a:pt x="6807200" y="3028188"/>
                    <a:pt x="6716268" y="3119120"/>
                    <a:pt x="6604000" y="3119120"/>
                  </a:cubicBezTo>
                  <a:lnTo>
                    <a:pt x="203200" y="3119120"/>
                  </a:lnTo>
                  <a:cubicBezTo>
                    <a:pt x="90932" y="3119120"/>
                    <a:pt x="0" y="3028188"/>
                    <a:pt x="0" y="2915920"/>
                  </a:cubicBezTo>
                  <a:close/>
                </a:path>
              </a:pathLst>
            </a:custGeom>
            <a:solidFill>
              <a:srgbClr val="1F2F52"/>
            </a:solidFill>
          </p:spPr>
          <p:txBody>
            <a:bodyPr/>
            <a:lstStyle/>
            <a:p>
              <a:endParaRPr lang="en-MY"/>
            </a:p>
          </p:txBody>
        </p:sp>
      </p:grpSp>
      <p:sp>
        <p:nvSpPr>
          <p:cNvPr id="11" name="TextBox 11"/>
          <p:cNvSpPr txBox="1"/>
          <p:nvPr/>
        </p:nvSpPr>
        <p:spPr>
          <a:xfrm>
            <a:off x="6934200" y="2651760"/>
            <a:ext cx="4552188" cy="396240"/>
          </a:xfrm>
          <a:prstGeom prst="rect">
            <a:avLst/>
          </a:prstGeom>
        </p:spPr>
        <p:txBody>
          <a:bodyPr lIns="0" tIns="0" rIns="0" bIns="0" rtlCol="0" anchor="t">
            <a:spAutoFit/>
          </a:bodyPr>
          <a:lstStyle/>
          <a:p>
            <a:pPr algn="l">
              <a:lnSpc>
                <a:spcPts val="2520"/>
              </a:lnSpc>
            </a:pPr>
            <a:r>
              <a:rPr lang="en-US" sz="1800" b="1" spc="149">
                <a:solidFill>
                  <a:srgbClr val="E07A2F"/>
                </a:solidFill>
                <a:latin typeface="IBM Plex Sans Bold"/>
                <a:ea typeface="IBM Plex Sans Bold"/>
                <a:cs typeface="IBM Plex Sans Bold"/>
                <a:sym typeface="IBM Plex Sans Bold"/>
              </a:rPr>
              <a:t>2 · FIX THE BIAS</a:t>
            </a:r>
          </a:p>
        </p:txBody>
      </p:sp>
      <p:sp>
        <p:nvSpPr>
          <p:cNvPr id="12" name="TextBox 12"/>
          <p:cNvSpPr txBox="1"/>
          <p:nvPr/>
        </p:nvSpPr>
        <p:spPr>
          <a:xfrm>
            <a:off x="6934200" y="3105150"/>
            <a:ext cx="4552188" cy="1276350"/>
          </a:xfrm>
          <a:prstGeom prst="rect">
            <a:avLst/>
          </a:prstGeom>
        </p:spPr>
        <p:txBody>
          <a:bodyPr lIns="0" tIns="0" rIns="0" bIns="0" rtlCol="0" anchor="t">
            <a:spAutoFit/>
          </a:bodyPr>
          <a:lstStyle/>
          <a:p>
            <a:pPr algn="l">
              <a:lnSpc>
                <a:spcPts val="3149"/>
              </a:lnSpc>
            </a:pPr>
            <a:r>
              <a:rPr lang="en-US" sz="2250">
                <a:solidFill>
                  <a:srgbClr val="F7F6F2"/>
                </a:solidFill>
                <a:latin typeface="IBM Plex Sans"/>
                <a:ea typeface="IBM Plex Sans"/>
                <a:cs typeface="IBM Plex Sans"/>
                <a:sym typeface="IBM Plex Sans"/>
              </a:rPr>
              <a:t>Explore parameters beyond the given four to correct the oil–water split</a:t>
            </a:r>
          </a:p>
        </p:txBody>
      </p:sp>
      <p:grpSp>
        <p:nvGrpSpPr>
          <p:cNvPr id="13" name="Group 13"/>
          <p:cNvGrpSpPr/>
          <p:nvPr/>
        </p:nvGrpSpPr>
        <p:grpSpPr>
          <a:xfrm>
            <a:off x="11963400" y="2346960"/>
            <a:ext cx="5105400" cy="2339340"/>
            <a:chOff x="0" y="0"/>
            <a:chExt cx="6807200" cy="3119120"/>
          </a:xfrm>
        </p:grpSpPr>
        <p:sp>
          <p:nvSpPr>
            <p:cNvPr id="14" name="Freeform 14"/>
            <p:cNvSpPr/>
            <p:nvPr/>
          </p:nvSpPr>
          <p:spPr>
            <a:xfrm>
              <a:off x="0" y="0"/>
              <a:ext cx="6807200" cy="3119120"/>
            </a:xfrm>
            <a:custGeom>
              <a:avLst/>
              <a:gdLst/>
              <a:ahLst/>
              <a:cxnLst/>
              <a:rect l="l" t="t" r="r" b="b"/>
              <a:pathLst>
                <a:path w="6807200" h="3119120">
                  <a:moveTo>
                    <a:pt x="0" y="203200"/>
                  </a:moveTo>
                  <a:cubicBezTo>
                    <a:pt x="0" y="90932"/>
                    <a:pt x="90932" y="0"/>
                    <a:pt x="203200" y="0"/>
                  </a:cubicBezTo>
                  <a:lnTo>
                    <a:pt x="6604000" y="0"/>
                  </a:lnTo>
                  <a:cubicBezTo>
                    <a:pt x="6716268" y="0"/>
                    <a:pt x="6807200" y="90932"/>
                    <a:pt x="6807200" y="203200"/>
                  </a:cubicBezTo>
                  <a:lnTo>
                    <a:pt x="6807200" y="2915920"/>
                  </a:lnTo>
                  <a:cubicBezTo>
                    <a:pt x="6807200" y="3028188"/>
                    <a:pt x="6716268" y="3119120"/>
                    <a:pt x="6604000" y="3119120"/>
                  </a:cubicBezTo>
                  <a:lnTo>
                    <a:pt x="203200" y="3119120"/>
                  </a:lnTo>
                  <a:cubicBezTo>
                    <a:pt x="90932" y="3119120"/>
                    <a:pt x="0" y="3028188"/>
                    <a:pt x="0" y="2915920"/>
                  </a:cubicBezTo>
                  <a:close/>
                </a:path>
              </a:pathLst>
            </a:custGeom>
            <a:solidFill>
              <a:srgbClr val="1F2F52"/>
            </a:solidFill>
          </p:spPr>
          <p:txBody>
            <a:bodyPr/>
            <a:lstStyle/>
            <a:p>
              <a:endParaRPr lang="en-MY"/>
            </a:p>
          </p:txBody>
        </p:sp>
      </p:grpSp>
      <p:sp>
        <p:nvSpPr>
          <p:cNvPr id="15" name="TextBox 15"/>
          <p:cNvSpPr txBox="1"/>
          <p:nvPr/>
        </p:nvSpPr>
        <p:spPr>
          <a:xfrm>
            <a:off x="12306300" y="2651760"/>
            <a:ext cx="4552188" cy="396240"/>
          </a:xfrm>
          <a:prstGeom prst="rect">
            <a:avLst/>
          </a:prstGeom>
        </p:spPr>
        <p:txBody>
          <a:bodyPr lIns="0" tIns="0" rIns="0" bIns="0" rtlCol="0" anchor="t">
            <a:spAutoFit/>
          </a:bodyPr>
          <a:lstStyle/>
          <a:p>
            <a:pPr algn="l">
              <a:lnSpc>
                <a:spcPts val="2520"/>
              </a:lnSpc>
            </a:pPr>
            <a:r>
              <a:rPr lang="en-US" sz="1800" b="1" spc="149">
                <a:solidFill>
                  <a:srgbClr val="E07A2F"/>
                </a:solidFill>
                <a:latin typeface="IBM Plex Sans Bold"/>
                <a:ea typeface="IBM Plex Sans Bold"/>
                <a:cs typeface="IBM Plex Sans Bold"/>
                <a:sym typeface="IBM Plex Sans Bold"/>
              </a:rPr>
              <a:t>3 · DECIDE</a:t>
            </a:r>
          </a:p>
        </p:txBody>
      </p:sp>
      <p:sp>
        <p:nvSpPr>
          <p:cNvPr id="16" name="TextBox 16"/>
          <p:cNvSpPr txBox="1"/>
          <p:nvPr/>
        </p:nvSpPr>
        <p:spPr>
          <a:xfrm>
            <a:off x="12306300" y="3105150"/>
            <a:ext cx="4552188" cy="1276350"/>
          </a:xfrm>
          <a:prstGeom prst="rect">
            <a:avLst/>
          </a:prstGeom>
        </p:spPr>
        <p:txBody>
          <a:bodyPr lIns="0" tIns="0" rIns="0" bIns="0" rtlCol="0" anchor="t">
            <a:spAutoFit/>
          </a:bodyPr>
          <a:lstStyle/>
          <a:p>
            <a:pPr algn="l">
              <a:lnSpc>
                <a:spcPts val="3149"/>
              </a:lnSpc>
            </a:pPr>
            <a:r>
              <a:rPr lang="en-US" sz="2250">
                <a:solidFill>
                  <a:srgbClr val="F7F6F2"/>
                </a:solidFill>
                <a:latin typeface="IBM Plex Sans"/>
                <a:ea typeface="IBM Plex Sans"/>
                <a:cs typeface="IBM Plex Sans"/>
                <a:sym typeface="IBM Plex Sans"/>
              </a:rPr>
              <a:t>Turn P10/P50/P90 into revenue and NPV: will the field make money?</a:t>
            </a:r>
          </a:p>
        </p:txBody>
      </p:sp>
      <p:sp>
        <p:nvSpPr>
          <p:cNvPr id="17" name="TextBox 17"/>
          <p:cNvSpPr txBox="1"/>
          <p:nvPr/>
        </p:nvSpPr>
        <p:spPr>
          <a:xfrm>
            <a:off x="1219200" y="5105400"/>
            <a:ext cx="14716125" cy="476250"/>
          </a:xfrm>
          <a:prstGeom prst="rect">
            <a:avLst/>
          </a:prstGeom>
        </p:spPr>
        <p:txBody>
          <a:bodyPr lIns="0" tIns="0" rIns="0" bIns="0" rtlCol="0" anchor="t">
            <a:spAutoFit/>
          </a:bodyPr>
          <a:lstStyle/>
          <a:p>
            <a:pPr algn="l">
              <a:lnSpc>
                <a:spcPts val="3149"/>
              </a:lnSpc>
            </a:pPr>
            <a:r>
              <a:rPr lang="en-US" sz="2250">
                <a:solidFill>
                  <a:srgbClr val="C9D3E0"/>
                </a:solidFill>
                <a:latin typeface="IBM Plex Sans"/>
                <a:ea typeface="IBM Plex Sans"/>
                <a:cs typeface="IBM Plex Sans"/>
                <a:sym typeface="IBM Plex Sans"/>
              </a:rPr>
              <a:t>Next: the dashboard and insights →</a:t>
            </a:r>
          </a:p>
        </p:txBody>
      </p:sp>
      <p:sp>
        <p:nvSpPr>
          <p:cNvPr id="18" name="TextBox 18"/>
          <p:cNvSpPr txBox="1"/>
          <p:nvPr/>
        </p:nvSpPr>
        <p:spPr>
          <a:xfrm>
            <a:off x="1219200" y="9319260"/>
            <a:ext cx="9810750" cy="396240"/>
          </a:xfrm>
          <a:prstGeom prst="rect">
            <a:avLst/>
          </a:prstGeom>
        </p:spPr>
        <p:txBody>
          <a:bodyPr lIns="0" tIns="0" rIns="0" bIns="0" rtlCol="0" anchor="t">
            <a:spAutoFit/>
          </a:bodyPr>
          <a:lstStyle/>
          <a:p>
            <a:pPr algn="l">
              <a:lnSpc>
                <a:spcPts val="2520"/>
              </a:lnSpc>
            </a:pPr>
            <a:r>
              <a:rPr lang="en-US" sz="1800">
                <a:solidFill>
                  <a:srgbClr val="9AA8BC"/>
                </a:solidFill>
                <a:latin typeface="IBM Plex Sans"/>
                <a:ea typeface="IBM Plex Sans"/>
                <a:cs typeface="IBM Plex Sans"/>
                <a:sym typeface="IBM Plex Sans"/>
              </a:rPr>
              <a:t>T3 · History match &amp; forecast</a:t>
            </a:r>
          </a:p>
        </p:txBody>
      </p:sp>
      <p:sp>
        <p:nvSpPr>
          <p:cNvPr id="19" name="TextBox 19"/>
          <p:cNvSpPr txBox="1"/>
          <p:nvPr/>
        </p:nvSpPr>
        <p:spPr>
          <a:xfrm>
            <a:off x="15087600" y="9319260"/>
            <a:ext cx="1981200" cy="396240"/>
          </a:xfrm>
          <a:prstGeom prst="rect">
            <a:avLst/>
          </a:prstGeom>
        </p:spPr>
        <p:txBody>
          <a:bodyPr lIns="0" tIns="0" rIns="0" bIns="0" rtlCol="0" anchor="t">
            <a:spAutoFit/>
          </a:bodyPr>
          <a:lstStyle/>
          <a:p>
            <a:pPr algn="r">
              <a:lnSpc>
                <a:spcPts val="2520"/>
              </a:lnSpc>
            </a:pPr>
            <a:r>
              <a:rPr lang="en-US" sz="1800">
                <a:solidFill>
                  <a:srgbClr val="9AA8BC"/>
                </a:solidFill>
                <a:latin typeface="IBM Plex Sans"/>
                <a:ea typeface="IBM Plex Sans"/>
                <a:cs typeface="IBM Plex Sans"/>
                <a:sym typeface="IBM Plex Sans"/>
              </a:rPr>
              <a:t>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Freeform 2"/>
          <p:cNvSpPr/>
          <p:nvPr/>
        </p:nvSpPr>
        <p:spPr>
          <a:xfrm>
            <a:off x="640382" y="1988968"/>
            <a:ext cx="17007236" cy="7269332"/>
          </a:xfrm>
          <a:custGeom>
            <a:avLst/>
            <a:gdLst/>
            <a:ahLst/>
            <a:cxnLst/>
            <a:rect l="l" t="t" r="r" b="b"/>
            <a:pathLst>
              <a:path w="17007236" h="7269332">
                <a:moveTo>
                  <a:pt x="0" y="0"/>
                </a:moveTo>
                <a:lnTo>
                  <a:pt x="17007236" y="0"/>
                </a:lnTo>
                <a:lnTo>
                  <a:pt x="17007236" y="7269332"/>
                </a:lnTo>
                <a:lnTo>
                  <a:pt x="0" y="7269332"/>
                </a:lnTo>
                <a:lnTo>
                  <a:pt x="0" y="0"/>
                </a:lnTo>
                <a:close/>
              </a:path>
            </a:pathLst>
          </a:custGeom>
          <a:blipFill>
            <a:blip r:embed="rId2"/>
            <a:stretch>
              <a:fillRect/>
            </a:stretch>
          </a:blipFill>
        </p:spPr>
        <p:txBody>
          <a:bodyPr/>
          <a:lstStyle/>
          <a:p>
            <a:endParaRPr lang="en-MY"/>
          </a:p>
        </p:txBody>
      </p:sp>
      <p:sp>
        <p:nvSpPr>
          <p:cNvPr id="3" name="TextBox 3"/>
          <p:cNvSpPr txBox="1"/>
          <p:nvPr/>
        </p:nvSpPr>
        <p:spPr>
          <a:xfrm>
            <a:off x="640382" y="778396"/>
            <a:ext cx="17007236" cy="887095"/>
          </a:xfrm>
          <a:prstGeom prst="rect">
            <a:avLst/>
          </a:prstGeom>
        </p:spPr>
        <p:txBody>
          <a:bodyPr lIns="0" tIns="0" rIns="0" bIns="0" rtlCol="0" anchor="t">
            <a:spAutoFit/>
          </a:bodyPr>
          <a:lstStyle/>
          <a:p>
            <a:pPr algn="ctr">
              <a:lnSpc>
                <a:spcPts val="7279"/>
              </a:lnSpc>
            </a:pPr>
            <a:r>
              <a:rPr lang="en-US" sz="5199" b="1" i="1">
                <a:solidFill>
                  <a:srgbClr val="FDF1E7"/>
                </a:solidFill>
                <a:latin typeface="IBM Plex Sans Bold Italics"/>
                <a:ea typeface="IBM Plex Sans Bold Italics"/>
                <a:cs typeface="IBM Plex Sans Bold Italics"/>
                <a:sym typeface="IBM Plex Sans Bold Italics"/>
              </a:rPr>
              <a:t>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1400</Words>
  <Application>Microsoft Office PowerPoint</Application>
  <PresentationFormat>Custom</PresentationFormat>
  <Paragraphs>169</Paragraphs>
  <Slides>14</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Open Sans Bold</vt:lpstr>
      <vt:lpstr>Calibri</vt:lpstr>
      <vt:lpstr>Boston Angel Bold</vt:lpstr>
      <vt:lpstr>IBM Plex Sans</vt:lpstr>
      <vt:lpstr>Arial</vt:lpstr>
      <vt:lpstr>IBM Plex Sans Bold Italics</vt:lpstr>
      <vt:lpstr>PT Serif Bold</vt:lpstr>
      <vt:lpstr>Rubik Bold</vt:lpstr>
      <vt:lpstr>IBM Plex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T2 | A proxy for reservoir simulation 4 parameters → oil, gas and water curves 41 quarterly dates · 1998–2008 Learn from simulator cases Support T3’s history-matching search</dc:title>
  <cp:lastModifiedBy>Choong Ming Hang</cp:lastModifiedBy>
  <cp:revision>2</cp:revision>
  <dcterms:created xsi:type="dcterms:W3CDTF">2006-08-16T00:00:00Z</dcterms:created>
  <dcterms:modified xsi:type="dcterms:W3CDTF">2026-10-20T06:44:58Z</dcterms:modified>
  <dc:identifier>DAHYgfWiDRE</dc:identifier>
</cp:coreProperties>
</file>